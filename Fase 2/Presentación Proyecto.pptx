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76" r:id="rId14"/>
    <p:sldId id="273" r:id="rId15"/>
    <p:sldId id="277" r:id="rId16"/>
    <p:sldId id="275" r:id="rId17"/>
    <p:sldId id="278" r:id="rId18"/>
    <p:sldId id="279" r:id="rId19"/>
    <p:sldId id="269" r:id="rId20"/>
    <p:sldId id="274" r:id="rId21"/>
  </p:sldIdLst>
  <p:sldSz cx="14630400" cy="8229600"/>
  <p:notesSz cx="8229600" cy="14630400"/>
  <p:embeddedFontLst>
    <p:embeddedFont>
      <p:font typeface="Aptos Narrow" panose="020B0004020202020204" pitchFamily="34" charset="0"/>
      <p:regular r:id="rId23"/>
      <p:bold r:id="rId24"/>
      <p:italic r:id="rId25"/>
      <p:boldItalic r:id="rId26"/>
    </p:embeddedFont>
    <p:embeddedFont>
      <p:font typeface="Gill Sans MT" panose="020B0502020104020203" pitchFamily="34" charset="0"/>
      <p:regular r:id="rId27"/>
      <p:bold r:id="rId28"/>
      <p:italic r:id="rId29"/>
      <p:boldItalic r:id="rId30"/>
    </p:embeddedFont>
    <p:embeddedFont>
      <p:font typeface="Source Sans 3" panose="020B0604020202020204" charset="0"/>
      <p:regular r:id="rId31"/>
    </p:embeddedFont>
    <p:embeddedFont>
      <p:font typeface="Source Serif 4 Semi Bold" panose="020B0604020202020204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36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E7A7-B918-69BF-9879-FCA16BD9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38C74-7FE6-F75C-E4C8-FF69D368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20593-E417-C270-198E-0234F3221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8F4EB-CF2D-4769-6321-4B0E19437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5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23FC-9869-C4D8-C28D-74E9A56A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08E3F-C1C2-96FF-FBF9-193618DCC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DB80F-194C-74CA-580F-344D60FC2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A20B-D460-B49D-B980-9236970C2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0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8315-DA0B-CC79-1307-DA205E77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4199A-FED6-68AD-46E4-EAA4B1A12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347C5-AC63-9791-441C-6A555B2CA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A820E-26D1-DF9F-C36A-9698FA229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90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CF9F-B496-1049-8236-E1F216F5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DA388-15E8-4827-EE54-6D499F794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5183C-F598-EA00-085C-CC8812B4C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FE232-92A2-DAB2-7FEC-63C49F4E3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21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8C35-FC1D-F62D-E47B-2EA2C5AF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FAFD1-C1C1-AAC0-014D-5A77EDD91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2E5E9-E2CF-4AE5-2938-D14DCE967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96E94-95C7-5319-E05F-D32F609EE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60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6645-C247-C52E-7832-714573EA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B7F29-35E4-6619-B327-F95E19634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F7619-012B-A313-5B4D-AB5C319E1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759EB-CF44-764B-1745-562FAC929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24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9077-8BD8-E8F5-525A-57DB78E1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D433-7BCD-5991-DA02-7827CA24E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EACBA-F05D-8ACF-A19C-E6829AB0C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EF734-1648-DF2F-61DD-EB4297CD7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2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46B0-2ECC-4849-23B3-21B4C3FA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2EE48-4DE6-724B-6210-6BEA42237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C43D7-1E6C-8B09-F58F-F9E18CCCC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9E442-9FAA-88D5-88E3-2EE9128A2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2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5C90-D3FD-4CEC-FFD0-A8CF4E9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54381-8F59-9FBD-8013-4409B8A6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534A1-9AA0-D0B7-8541-6E268D25F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600FD-0FAD-A198-FACD-214CBE307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3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3B39-1B24-EA80-035C-F03DBB7D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FB31-F90F-A214-8D93-CBFDE06C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86B29-ECD3-A788-E401-352BDB02F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D256B-DA5E-15EA-579A-1FFD24CF2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897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504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47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236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3209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68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177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60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876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006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3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84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755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47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632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842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93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4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669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01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87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4663440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241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 – Plataforma de Citas Médicas con Triage IA</a:t>
            </a:r>
            <a:endParaRPr lang="es-419" sz="4400" noProof="0" dirty="0"/>
          </a:p>
        </p:txBody>
      </p:sp>
      <p:sp>
        <p:nvSpPr>
          <p:cNvPr id="5" name="Text 1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Bienvenida a la presentación de MediTriage, un proyecto innovador en la gestión de citas médicas.</a:t>
            </a:r>
            <a:endParaRPr lang="es-419" sz="185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1114AA-578E-C3BD-AD7C-3C23BC62B4EA}"/>
              </a:ext>
            </a:extLst>
          </p:cNvPr>
          <p:cNvSpPr/>
          <p:nvPr/>
        </p:nvSpPr>
        <p:spPr>
          <a:xfrm>
            <a:off x="11405939" y="6099114"/>
            <a:ext cx="3224461" cy="124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Docente: Alex Zúñiga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</a:rPr>
              <a:t>Integrantes</a:t>
            </a: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: Matías cuevas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s-419" sz="1850" dirty="0">
                <a:solidFill>
                  <a:srgbClr val="272525"/>
                </a:solidFill>
                <a:latin typeface="Source Sans 3" pitchFamily="34" charset="0"/>
              </a:rPr>
              <a:t>Raúl Benavides</a:t>
            </a:r>
            <a:endParaRPr lang="es-419" sz="1850" noProof="0" dirty="0">
              <a:solidFill>
                <a:srgbClr val="272525"/>
              </a:solidFill>
              <a:latin typeface="Source Sans 3" pitchFamily="34" charset="0"/>
            </a:endParaRPr>
          </a:p>
          <a:p>
            <a:pPr marL="0" indent="0" algn="ctr">
              <a:lnSpc>
                <a:spcPts val="3000"/>
              </a:lnSpc>
              <a:buNone/>
            </a:pPr>
            <a:endParaRPr lang="es-419" sz="18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4975"/>
            <a:ext cx="9756458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s-419" sz="39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El Desafío Actual en la Gestión Sanitaria</a:t>
            </a:r>
            <a:endParaRPr lang="es-419" sz="395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54054"/>
            <a:ext cx="5278279" cy="527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5591" y="1927146"/>
            <a:ext cx="4088130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419" sz="315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Contexto y Problema</a:t>
            </a:r>
            <a:endParaRPr lang="es-419" sz="3150" noProof="0" dirty="0"/>
          </a:p>
        </p:txBody>
      </p:sp>
      <p:sp>
        <p:nvSpPr>
          <p:cNvPr id="5" name="Text 2"/>
          <p:cNvSpPr/>
          <p:nvPr/>
        </p:nvSpPr>
        <p:spPr>
          <a:xfrm>
            <a:off x="7585591" y="2649379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419" sz="16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Sobrecarga y mala orientación</a:t>
            </a: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 agendas médicas: un problema generalizado que afecta a pacientes y profesionales.</a:t>
            </a:r>
            <a:endParaRPr lang="es-419" sz="1650" noProof="0" dirty="0"/>
          </a:p>
        </p:txBody>
      </p:sp>
      <p:sp>
        <p:nvSpPr>
          <p:cNvPr id="6" name="Text 3"/>
          <p:cNvSpPr/>
          <p:nvPr/>
        </p:nvSpPr>
        <p:spPr>
          <a:xfrm>
            <a:off x="7585591" y="3532346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que reservan citas en especialidades incorrectas, retrasando diagnósticos.</a:t>
            </a:r>
            <a:endParaRPr lang="es-419" sz="1650" noProof="0" dirty="0"/>
          </a:p>
        </p:txBody>
      </p:sp>
      <p:sp>
        <p:nvSpPr>
          <p:cNvPr id="7" name="Text 4"/>
          <p:cNvSpPr/>
          <p:nvPr/>
        </p:nvSpPr>
        <p:spPr>
          <a:xfrm>
            <a:off x="7585591" y="4296847"/>
            <a:ext cx="621470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s-419" sz="16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Ineficiencia en la gestión de recursos médicos, generando esperas innecesarias.</a:t>
            </a:r>
            <a:endParaRPr lang="es-419" sz="16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36621"/>
            <a:ext cx="635936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Impacto y Oportunidad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38926"/>
            <a:ext cx="51780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Relevancia del Proyecto</a:t>
            </a:r>
            <a:endParaRPr lang="es-419" sz="350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64152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asignación de citas médicas, dirigiendo a cada paciente al especialista adecuado.</a:t>
            </a:r>
            <a:endParaRPr lang="es-419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449127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Mejora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experiencia del paciente, reduciendo tiempos de espera y frustraciones.</a:t>
            </a:r>
            <a:endParaRPr lang="es-419" sz="185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5341025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Aporta valor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campo de la informática aplicando IA en un entorno crítico como la salud, abriendo nuevas vías de eficiencia.</a:t>
            </a:r>
            <a:endParaRPr lang="es-419" sz="1850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868811"/>
            <a:ext cx="6185535" cy="3554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72133"/>
            <a:ext cx="96222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MediTriage: La Solución Inteligente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204323"/>
            <a:ext cx="4997053" cy="3266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641038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¿Qué es MediTriage?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315200" y="244363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</a:t>
            </a:r>
            <a:r>
              <a:rPr lang="es-419" sz="1850" noProof="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web integral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diseñada para optimizar el agendamiento y la gestión de citas médicas mediante: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315200" y="34250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Cuestionario dinámico de síntomas para una evaluación inicial.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315200" y="4274820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Motor de reglas para detectar "banderas rojas" y casos de urgencia.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0" y="5124569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IA para orientar el nivel de urgencia y la especialidad más adecuada.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315199" y="602527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de médicos para una gestión eficiente y visualización del triage previo.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7962"/>
            <a:ext cx="69450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Hoja de Ruta del Proyecto</a:t>
            </a:r>
            <a:endParaRPr lang="es-419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170152"/>
            <a:ext cx="4952167" cy="4952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0026" y="1843858"/>
            <a:ext cx="484370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Objetivos del Proyecto</a:t>
            </a:r>
            <a:endParaRPr lang="es-419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7210026" y="264645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 General:</a:t>
            </a:r>
            <a:endParaRPr lang="es-419" sz="1850" noProof="0" dirty="0"/>
          </a:p>
        </p:txBody>
      </p:sp>
      <p:sp>
        <p:nvSpPr>
          <p:cNvPr id="6" name="Text 3"/>
          <p:cNvSpPr/>
          <p:nvPr/>
        </p:nvSpPr>
        <p:spPr>
          <a:xfrm>
            <a:off x="7210026" y="324486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Desarrollar una plataforma web para la gestión de citas médicas con triage IA y motor de reglas integrado.</a:t>
            </a:r>
            <a:endParaRPr lang="es-419" sz="1850" noProof="0" dirty="0"/>
          </a:p>
        </p:txBody>
      </p:sp>
      <p:sp>
        <p:nvSpPr>
          <p:cNvPr id="7" name="Text 4"/>
          <p:cNvSpPr/>
          <p:nvPr/>
        </p:nvSpPr>
        <p:spPr>
          <a:xfrm>
            <a:off x="7210026" y="422629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Objetivos Específicos:</a:t>
            </a:r>
            <a:endParaRPr lang="es-419" sz="1850" noProof="0" dirty="0"/>
          </a:p>
        </p:txBody>
      </p:sp>
      <p:sp>
        <p:nvSpPr>
          <p:cNvPr id="8" name="Text 5"/>
          <p:cNvSpPr/>
          <p:nvPr/>
        </p:nvSpPr>
        <p:spPr>
          <a:xfrm>
            <a:off x="7210026" y="48247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Implementar autenticación y gestión de usuarios robusta.</a:t>
            </a:r>
            <a:endParaRPr lang="es-419" sz="1850" noProof="0" dirty="0"/>
          </a:p>
        </p:txBody>
      </p:sp>
      <p:sp>
        <p:nvSpPr>
          <p:cNvPr id="9" name="Text 6"/>
          <p:cNvSpPr/>
          <p:nvPr/>
        </p:nvSpPr>
        <p:spPr>
          <a:xfrm>
            <a:off x="7210026" y="52914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Diseñar un modelo de datos escalable para agenda y citas.</a:t>
            </a:r>
            <a:endParaRPr lang="es-419" sz="1850" noProof="0" dirty="0"/>
          </a:p>
        </p:txBody>
      </p:sp>
      <p:sp>
        <p:nvSpPr>
          <p:cNvPr id="10" name="Text 7"/>
          <p:cNvSpPr/>
          <p:nvPr/>
        </p:nvSpPr>
        <p:spPr>
          <a:xfrm>
            <a:off x="7210026" y="575815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Integrar un servicio de IA para orientación precisa de urgencia y especialidad.</a:t>
            </a:r>
            <a:endParaRPr lang="es-419" sz="1850" noProof="0" dirty="0"/>
          </a:p>
        </p:txBody>
      </p:sp>
      <p:sp>
        <p:nvSpPr>
          <p:cNvPr id="11" name="Text 8"/>
          <p:cNvSpPr/>
          <p:nvPr/>
        </p:nvSpPr>
        <p:spPr>
          <a:xfrm>
            <a:off x="7202406" y="644288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Crear reportes básicos y un panel de médicos intuitivo.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32704"/>
            <a:ext cx="59031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Metodología y Equipo</a:t>
            </a:r>
            <a:endParaRPr lang="es-419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837724" y="3174444"/>
            <a:ext cx="6357818" cy="3422452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143964"/>
            <a:ext cx="635781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815471"/>
            <a:ext cx="718066" cy="71806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925" y="2995017"/>
            <a:ext cx="287179" cy="35897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07519" y="3772852"/>
            <a:ext cx="291119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Enfoque Ágil (Scrum)</a:t>
            </a:r>
            <a:endParaRPr lang="es-419" sz="2200" noProof="0" dirty="0"/>
          </a:p>
        </p:txBody>
      </p:sp>
      <p:sp>
        <p:nvSpPr>
          <p:cNvPr id="8" name="Text 3"/>
          <p:cNvSpPr/>
          <p:nvPr/>
        </p:nvSpPr>
        <p:spPr>
          <a:xfrm>
            <a:off x="1107519" y="4268391"/>
            <a:ext cx="581822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Trabajaremos con </a:t>
            </a:r>
            <a:r>
              <a:rPr lang="es-419" sz="1850" b="1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sprints</a:t>
            </a: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2 semanas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garantizando iteraciones rápidas y entregas continuas. Cada sprint incluirá planificación, diseño, desarrollo, pruebas y documentación.</a:t>
            </a:r>
            <a:endParaRPr lang="es-419" sz="1850" noProof="0" dirty="0"/>
          </a:p>
        </p:txBody>
      </p:sp>
      <p:sp>
        <p:nvSpPr>
          <p:cNvPr id="9" name="Shape 4"/>
          <p:cNvSpPr/>
          <p:nvPr/>
        </p:nvSpPr>
        <p:spPr>
          <a:xfrm>
            <a:off x="7434858" y="3174444"/>
            <a:ext cx="6357818" cy="3422452"/>
          </a:xfrm>
          <a:prstGeom prst="roundRect">
            <a:avLst>
              <a:gd name="adj" fmla="val 427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858" y="3143964"/>
            <a:ext cx="6357818" cy="1219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675" y="2815471"/>
            <a:ext cx="718066" cy="71806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059" y="2995017"/>
            <a:ext cx="287179" cy="35897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704653" y="37728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Roles del Equipo</a:t>
            </a:r>
            <a:endParaRPr lang="es-419" sz="2200" noProof="0" dirty="0"/>
          </a:p>
        </p:txBody>
      </p:sp>
      <p:sp>
        <p:nvSpPr>
          <p:cNvPr id="14" name="Text 6"/>
          <p:cNvSpPr/>
          <p:nvPr/>
        </p:nvSpPr>
        <p:spPr>
          <a:xfrm>
            <a:off x="7704653" y="4268391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Matías: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Líder técnico, encargado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la documentación crucial del proyecto.</a:t>
            </a:r>
            <a:endParaRPr lang="es-419" sz="1850" noProof="0" dirty="0"/>
          </a:p>
        </p:txBody>
      </p:sp>
      <p:sp>
        <p:nvSpPr>
          <p:cNvPr id="15" name="Text 7"/>
          <p:cNvSpPr/>
          <p:nvPr/>
        </p:nvSpPr>
        <p:spPr>
          <a:xfrm>
            <a:off x="7704653" y="5178028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Raúl: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Responsable del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pruebas de calidad y el diseño de la interfaz de usuario para una experiencia óptima.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7409" y="405095"/>
            <a:ext cx="6151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Cronograma Detallado</a:t>
            </a:r>
            <a:endParaRPr lang="es-419" sz="4400" noProof="0" dirty="0"/>
          </a:p>
        </p:txBody>
      </p:sp>
      <p:sp>
        <p:nvSpPr>
          <p:cNvPr id="10" name="Shape 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 noProof="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0DBEA00C-B57F-5373-0E33-43301C41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104067"/>
              </p:ext>
            </p:extLst>
          </p:nvPr>
        </p:nvGraphicFramePr>
        <p:xfrm>
          <a:off x="1798819" y="1199212"/>
          <a:ext cx="10538085" cy="5831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5522">
                  <a:extLst>
                    <a:ext uri="{9D8B030D-6E8A-4147-A177-3AD203B41FA5}">
                      <a16:colId xmlns:a16="http://schemas.microsoft.com/office/drawing/2014/main" val="750545529"/>
                    </a:ext>
                  </a:extLst>
                </a:gridCol>
                <a:gridCol w="2168157">
                  <a:extLst>
                    <a:ext uri="{9D8B030D-6E8A-4147-A177-3AD203B41FA5}">
                      <a16:colId xmlns:a16="http://schemas.microsoft.com/office/drawing/2014/main" val="3219625123"/>
                    </a:ext>
                  </a:extLst>
                </a:gridCol>
                <a:gridCol w="3104406">
                  <a:extLst>
                    <a:ext uri="{9D8B030D-6E8A-4147-A177-3AD203B41FA5}">
                      <a16:colId xmlns:a16="http://schemas.microsoft.com/office/drawing/2014/main" val="3213484307"/>
                    </a:ext>
                  </a:extLst>
                </a:gridCol>
              </a:tblGrid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Actividad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Responsable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asociadas</a:t>
                      </a:r>
                      <a:endParaRPr lang="es-419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52861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Levantamiento de requerimientos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4444475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Análisis de factibilidad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07710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base de datos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3, 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001687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Diseño de arquitectura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4, 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612448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backend (API REST .NET)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5,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0110590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Desarrollo frontend (UI prototipo)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Raúl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6, 7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16460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Integración frontend-backend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8, 9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256197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unitarias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9, 10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733583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Pruebas de integración (E2E)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Matías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10, 11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0619728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Ajustes y correcciones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11, 12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794129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Pruebas finales + despliegue simulado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13, 14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465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Preparación presentación final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15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5243974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Entrega final + exposición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 16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6122012"/>
                  </a:ext>
                </a:extLst>
              </a:tr>
              <a:tr h="388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Semanas buffer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>
                          <a:effectLst/>
                        </a:rPr>
                        <a:t>Ambos</a:t>
                      </a:r>
                      <a:endParaRPr lang="es-419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419" sz="2000" u="none" strike="noStrike" dirty="0">
                          <a:effectLst/>
                        </a:rPr>
                        <a:t>Semanas 17, 18</a:t>
                      </a:r>
                      <a:endParaRPr lang="es-419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47149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3061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Avance por </a:t>
            </a:r>
            <a:r>
              <a:rPr lang="es-419" sz="4400" noProof="0" dirty="0" err="1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Sprints</a:t>
            </a:r>
            <a:endParaRPr lang="es-419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31338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Nuestro plan de trabajo se estructura en </a:t>
            </a:r>
            <a:r>
              <a:rPr lang="es-419" sz="185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sprints</a:t>
            </a: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quincenales, asegurando un desarrollo modular y eficiente.</a:t>
            </a:r>
            <a:endParaRPr lang="es-419" sz="1850" noProof="0" dirty="0"/>
          </a:p>
        </p:txBody>
      </p:sp>
      <p:sp>
        <p:nvSpPr>
          <p:cNvPr id="4" name="Shape 2"/>
          <p:cNvSpPr/>
          <p:nvPr/>
        </p:nvSpPr>
        <p:spPr>
          <a:xfrm>
            <a:off x="837724" y="2965609"/>
            <a:ext cx="4158734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Text 3"/>
          <p:cNvSpPr/>
          <p:nvPr/>
        </p:nvSpPr>
        <p:spPr>
          <a:xfrm>
            <a:off x="108465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1 (Semanas 1-2)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1084659" y="3708083"/>
            <a:ext cx="366486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Planificación inicial, levantamiento de requerimientos y prototipo conceptual.</a:t>
            </a:r>
            <a:endParaRPr lang="es-419" sz="1850" noProof="0" dirty="0"/>
          </a:p>
        </p:txBody>
      </p:sp>
      <p:sp>
        <p:nvSpPr>
          <p:cNvPr id="7" name="Shape 5"/>
          <p:cNvSpPr/>
          <p:nvPr/>
        </p:nvSpPr>
        <p:spPr>
          <a:xfrm>
            <a:off x="5235773" y="2965609"/>
            <a:ext cx="4158734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48270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2 (Semanas 3-4)</a:t>
            </a:r>
            <a:endParaRPr lang="es-419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5482709" y="3708083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la autenticación de usuarios y módulos de gestión.</a:t>
            </a:r>
            <a:endParaRPr lang="es-419" sz="1850" noProof="0" dirty="0"/>
          </a:p>
        </p:txBody>
      </p:sp>
      <p:sp>
        <p:nvSpPr>
          <p:cNvPr id="10" name="Shape 8"/>
          <p:cNvSpPr/>
          <p:nvPr/>
        </p:nvSpPr>
        <p:spPr>
          <a:xfrm>
            <a:off x="9633823" y="2965609"/>
            <a:ext cx="4158853" cy="2138482"/>
          </a:xfrm>
          <a:prstGeom prst="roundRect">
            <a:avLst>
              <a:gd name="adj" fmla="val 26865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9880759" y="3212544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3 (Semanas 5-6)</a:t>
            </a:r>
            <a:endParaRPr lang="es-419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9880759" y="3708083"/>
            <a:ext cx="366498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Desarrollo del cuestionario de síntomas y el motor de reglas para el triage.</a:t>
            </a:r>
            <a:endParaRPr lang="es-419" sz="1850" noProof="0" dirty="0"/>
          </a:p>
        </p:txBody>
      </p:sp>
      <p:sp>
        <p:nvSpPr>
          <p:cNvPr id="13" name="Shape 11"/>
          <p:cNvSpPr/>
          <p:nvPr/>
        </p:nvSpPr>
        <p:spPr>
          <a:xfrm>
            <a:off x="837724" y="5343406"/>
            <a:ext cx="6357818" cy="1755458"/>
          </a:xfrm>
          <a:prstGeom prst="roundRect">
            <a:avLst>
              <a:gd name="adj" fmla="val 32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1084659" y="5590342"/>
            <a:ext cx="30151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4 (Semanas 7-8)</a:t>
            </a:r>
            <a:endParaRPr lang="es-419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1084659" y="6085880"/>
            <a:ext cx="58639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Integración del módulo de IA y diseño del panel médico para una gestión eficaz.</a:t>
            </a:r>
            <a:endParaRPr lang="es-419" sz="1850" noProof="0" dirty="0"/>
          </a:p>
        </p:txBody>
      </p:sp>
      <p:sp>
        <p:nvSpPr>
          <p:cNvPr id="16" name="Shape 14"/>
          <p:cNvSpPr/>
          <p:nvPr/>
        </p:nvSpPr>
        <p:spPr>
          <a:xfrm>
            <a:off x="7434858" y="5343406"/>
            <a:ext cx="6357818" cy="1755458"/>
          </a:xfrm>
          <a:prstGeom prst="roundRect">
            <a:avLst>
              <a:gd name="adj" fmla="val 32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Text 15"/>
          <p:cNvSpPr/>
          <p:nvPr/>
        </p:nvSpPr>
        <p:spPr>
          <a:xfrm>
            <a:off x="7681793" y="5590342"/>
            <a:ext cx="31690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419" sz="22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Sprint 5 (Semanas 9-10)</a:t>
            </a:r>
            <a:endParaRPr lang="es-419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7681793" y="6085880"/>
            <a:ext cx="58639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419" sz="185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Fase de pruebas exhaustivas, ajustes finales, documentación y la demo de MediTriage.</a:t>
            </a:r>
            <a:endParaRPr lang="es-419" sz="18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390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419" sz="44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Tecnologías que Impulsan MediTriage</a:t>
            </a:r>
            <a:endParaRPr lang="es-419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5866924" y="2107883"/>
            <a:ext cx="8463673" cy="513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.NET 8 Web API (C#),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Framework Core, SQL Server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Vite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Tailwind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CSS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IA: </a:t>
            </a: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OpenAI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(modelo GPT‑4o o GPT‑5, a definir en configuración)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Autenticación: JWT con roles (Paciente, Médico, Administrador)</a:t>
            </a:r>
          </a:p>
          <a:p>
            <a:pPr marL="342900" indent="-34290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s-419" sz="2400" noProof="0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Observabilidad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logs estructurados y métricas básicas</a:t>
            </a:r>
            <a:r>
              <a:rPr lang="es-419" sz="2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s-419" sz="2400" noProof="0" dirty="0">
              <a:solidFill>
                <a:srgbClr val="272525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9263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Expansión Futura de MediTriage</a:t>
            </a:r>
            <a:endParaRPr lang="es-419" sz="35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74" y="1487568"/>
            <a:ext cx="957501" cy="1148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39127" y="1679020"/>
            <a:ext cx="4789773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Integración de Derivaciones</a:t>
            </a:r>
            <a:endParaRPr lang="es-419" sz="2800" noProof="0" dirty="0"/>
          </a:p>
        </p:txBody>
      </p:sp>
      <p:sp>
        <p:nvSpPr>
          <p:cNvPr id="8" name="Text 4"/>
          <p:cNvSpPr/>
          <p:nvPr/>
        </p:nvSpPr>
        <p:spPr>
          <a:xfrm>
            <a:off x="2539127" y="2075498"/>
            <a:ext cx="11791690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Conexión con sistemas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FONASA e ISAPRE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simplificar las derivaciones y coordinaciones.</a:t>
            </a:r>
            <a:endParaRPr lang="es-419" sz="24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74" y="2636521"/>
            <a:ext cx="957501" cy="11489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39127" y="2827973"/>
            <a:ext cx="3395160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Agenda Compartida</a:t>
            </a:r>
            <a:endParaRPr lang="es-419" sz="2800" noProof="0" dirty="0"/>
          </a:p>
        </p:txBody>
      </p:sp>
      <p:sp>
        <p:nvSpPr>
          <p:cNvPr id="11" name="Text 6"/>
          <p:cNvSpPr/>
          <p:nvPr/>
        </p:nvSpPr>
        <p:spPr>
          <a:xfrm>
            <a:off x="2539127" y="3224451"/>
            <a:ext cx="11791690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 que permitirá a médicos y centros de salud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compartir sus agendas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sincronizada.</a:t>
            </a:r>
            <a:endParaRPr lang="es-419" sz="2400" noProof="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174" y="3785474"/>
            <a:ext cx="957501" cy="11489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39127" y="3976926"/>
            <a:ext cx="2306722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Telemedicina</a:t>
            </a:r>
            <a:endParaRPr lang="es-419" sz="2800" noProof="0" dirty="0"/>
          </a:p>
        </p:txBody>
      </p:sp>
      <p:sp>
        <p:nvSpPr>
          <p:cNvPr id="14" name="Text 8"/>
          <p:cNvSpPr/>
          <p:nvPr/>
        </p:nvSpPr>
        <p:spPr>
          <a:xfrm>
            <a:off x="2539127" y="4373405"/>
            <a:ext cx="11123238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Incorporación de un módulo de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consultas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ofrecer atención remota y accesible.</a:t>
            </a:r>
            <a:endParaRPr lang="es-419" sz="2400" noProof="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174" y="4934427"/>
            <a:ext cx="957501" cy="1148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39127" y="5125880"/>
            <a:ext cx="3880871" cy="3122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s-419" sz="28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Análisis de Tendencias</a:t>
            </a:r>
            <a:endParaRPr lang="es-419" sz="2800" noProof="0" dirty="0"/>
          </a:p>
        </p:txBody>
      </p:sp>
      <p:sp>
        <p:nvSpPr>
          <p:cNvPr id="17" name="Text 10"/>
          <p:cNvSpPr/>
          <p:nvPr/>
        </p:nvSpPr>
        <p:spPr>
          <a:xfrm>
            <a:off x="2539127" y="5522358"/>
            <a:ext cx="10929223" cy="630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Implementación de herramientas para </a:t>
            </a:r>
            <a:r>
              <a:rPr lang="es-419" sz="2400" b="1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análisis estadístico de síntomas</a:t>
            </a:r>
            <a:r>
              <a:rPr lang="es-419" sz="2400" noProof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tendencias epidemiológicas.</a:t>
            </a:r>
            <a:endParaRPr lang="es-419" sz="2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641D-FD28-2D5E-8E9C-C5812F15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30754E-D2D9-D3A8-AA93-3CD490AF549A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92BF13B-1E8D-0B1A-8482-0103EA05672E}"/>
              </a:ext>
            </a:extLst>
          </p:cNvPr>
          <p:cNvSpPr/>
          <p:nvPr/>
        </p:nvSpPr>
        <p:spPr>
          <a:xfrm>
            <a:off x="773495" y="1332548"/>
            <a:ext cx="12287250" cy="41019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MVP funcional(MediTriage).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Informe de avance (acta, requerimientos, prototipo inicial).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🧑‍🤝‍🧑 Documentación técnica y de usuario.</a:t>
            </a:r>
          </a:p>
          <a:p>
            <a:pPr marL="531813" lvl="1" indent="-285750" defTabSz="404813">
              <a:lnSpc>
                <a:spcPct val="2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🧪 Presentación final y demo.</a:t>
            </a:r>
          </a:p>
        </p:txBody>
      </p:sp>
    </p:spTree>
    <p:extLst>
      <p:ext uri="{BB962C8B-B14F-4D97-AF65-F5344CB8AC3E}">
        <p14:creationId xmlns:p14="http://schemas.microsoft.com/office/powerpoint/2010/main" val="79481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63FC-338F-8BA7-086C-3F0AA6BF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0FC1BE-E458-B41F-5631-E73A7F515600}"/>
              </a:ext>
            </a:extLst>
          </p:cNvPr>
          <p:cNvSpPr/>
          <p:nvPr/>
        </p:nvSpPr>
        <p:spPr>
          <a:xfrm>
            <a:off x="213184" y="1628800"/>
            <a:ext cx="5974255" cy="1169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Evidencia</a:t>
            </a:r>
          </a:p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WEB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05A27-9227-5C76-26CD-4016CD49BA64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27621E45-A967-3D9C-4F7C-49CBADDCC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916" y="372593"/>
            <a:ext cx="7607369" cy="785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6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9EF0-6F5E-3B87-B194-3E67BFB9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FA19D8-2F1D-BBBF-A54E-DA29912FC426}"/>
              </a:ext>
            </a:extLst>
          </p:cNvPr>
          <p:cNvSpPr/>
          <p:nvPr/>
        </p:nvSpPr>
        <p:spPr>
          <a:xfrm>
            <a:off x="1382417" y="320289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 WEB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66F8D25-D0F9-E138-043A-A58E9BC67563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492F62-6458-342F-12D1-43E00D23C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64" y="1585406"/>
            <a:ext cx="5096586" cy="22196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40C97D-1713-2F12-8672-27B20E8F5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72" y="5252925"/>
            <a:ext cx="12287250" cy="162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F858-8FB1-82CF-7120-C6AC96B63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1DE157-D2C1-6BE3-CA10-4561C9D8FC47}"/>
              </a:ext>
            </a:extLst>
          </p:cNvPr>
          <p:cNvSpPr/>
          <p:nvPr/>
        </p:nvSpPr>
        <p:spPr>
          <a:xfrm>
            <a:off x="1382417" y="320289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 err="1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Swagger</a:t>
            </a:r>
            <a:endParaRPr lang="es-419" sz="3500" noProof="0" dirty="0">
              <a:solidFill>
                <a:srgbClr val="D73AD7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0BF5C02-8F93-5EB5-E038-3E7AED091402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7C7926-900C-E19C-5381-8DBBDC47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85406"/>
            <a:ext cx="12801600" cy="64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1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4574-6616-0A11-FE2F-C0B20483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DFADFC-C1D5-F0F5-461A-51B2BF43E272}"/>
              </a:ext>
            </a:extLst>
          </p:cNvPr>
          <p:cNvSpPr/>
          <p:nvPr/>
        </p:nvSpPr>
        <p:spPr>
          <a:xfrm>
            <a:off x="1207001" y="32670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Política de Acceso </a:t>
            </a:r>
            <a:r>
              <a:rPr lang="es-419" sz="3500" noProof="0" dirty="0" err="1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APIs</a:t>
            </a:r>
            <a:endParaRPr lang="es-419" sz="3500" noProof="0" dirty="0">
              <a:solidFill>
                <a:srgbClr val="D73AD7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B962B88-1A25-1788-196B-8B592E180962}"/>
              </a:ext>
            </a:extLst>
          </p:cNvPr>
          <p:cNvSpPr/>
          <p:nvPr/>
        </p:nvSpPr>
        <p:spPr>
          <a:xfrm>
            <a:off x="5078522" y="3363038"/>
            <a:ext cx="4303693" cy="20774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/>
              <a:t>GET /api/</a:t>
            </a:r>
            <a:r>
              <a:rPr lang="es-CL" sz="1500" dirty="0" err="1"/>
              <a:t>appointments</a:t>
            </a:r>
            <a:r>
              <a:rPr lang="es-CL" sz="1500" dirty="0"/>
              <a:t>/{id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 err="1"/>
              <a:t>Admin</a:t>
            </a:r>
            <a:r>
              <a:rPr lang="es-CL" sz="1500" dirty="0"/>
              <a:t>: cualquiera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/>
              <a:t>Doctor: solo si es su cita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 err="1"/>
              <a:t>Patient</a:t>
            </a:r>
            <a:r>
              <a:rPr lang="es-CL" sz="1500" dirty="0"/>
              <a:t>: solo si es su cita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/>
              <a:t>POST /api/</a:t>
            </a:r>
            <a:r>
              <a:rPr lang="es-CL" sz="1500" dirty="0" err="1"/>
              <a:t>appointments</a:t>
            </a:r>
            <a:endParaRPr lang="es-CL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 err="1"/>
              <a:t>Patient</a:t>
            </a:r>
            <a:r>
              <a:rPr lang="es-CL" sz="1500" dirty="0"/>
              <a:t> o </a:t>
            </a:r>
            <a:r>
              <a:rPr lang="es-CL" sz="1500" dirty="0" err="1"/>
              <a:t>Admin</a:t>
            </a:r>
            <a:r>
              <a:rPr lang="es-CL" sz="1500" dirty="0"/>
              <a:t>. Si es </a:t>
            </a:r>
            <a:r>
              <a:rPr lang="es-CL" sz="1500" dirty="0" err="1"/>
              <a:t>Patient</a:t>
            </a:r>
            <a:r>
              <a:rPr lang="es-CL" sz="1500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/>
              <a:t>solo puede crear para su propio </a:t>
            </a:r>
            <a:r>
              <a:rPr lang="es-CL" sz="1500" dirty="0" err="1"/>
              <a:t>PatientId</a:t>
            </a:r>
            <a:r>
              <a:rPr lang="es-CL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/>
              <a:t>PUT /api/</a:t>
            </a:r>
            <a:r>
              <a:rPr lang="es-CL" sz="1500" dirty="0" err="1"/>
              <a:t>appointments</a:t>
            </a:r>
            <a:r>
              <a:rPr lang="es-CL" sz="1500" dirty="0"/>
              <a:t>/{id}/</a:t>
            </a:r>
            <a:r>
              <a:rPr lang="es-CL" sz="1500" dirty="0" err="1"/>
              <a:t>reschedule</a:t>
            </a:r>
            <a:endParaRPr lang="es-CL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500" dirty="0" err="1"/>
              <a:t>Patient</a:t>
            </a:r>
            <a:r>
              <a:rPr lang="es-CL" sz="1500" dirty="0"/>
              <a:t> (solo su cita) o </a:t>
            </a:r>
            <a:r>
              <a:rPr lang="es-CL" sz="1500" dirty="0" err="1"/>
              <a:t>Admin</a:t>
            </a:r>
            <a:r>
              <a:rPr lang="es-CL" sz="1500" dirty="0"/>
              <a:t>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6C852-7EB9-31C3-EEC4-95F0FF0A6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895" y="2418879"/>
            <a:ext cx="5248185" cy="41407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CL" sz="1500" dirty="0"/>
              <a:t>POST /api/</a:t>
            </a:r>
            <a:r>
              <a:rPr lang="es-CL" sz="1500" dirty="0" err="1"/>
              <a:t>auth</a:t>
            </a:r>
            <a:r>
              <a:rPr lang="es-CL" sz="1500" dirty="0"/>
              <a:t>/</a:t>
            </a:r>
            <a:r>
              <a:rPr lang="es-CL" sz="1500" dirty="0" err="1"/>
              <a:t>register</a:t>
            </a:r>
            <a:r>
              <a:rPr lang="es-CL" sz="1500" dirty="0"/>
              <a:t>, POST /api/</a:t>
            </a:r>
            <a:r>
              <a:rPr lang="es-CL" sz="1500" dirty="0" err="1"/>
              <a:t>auth</a:t>
            </a:r>
            <a:r>
              <a:rPr lang="es-CL" sz="1500" dirty="0"/>
              <a:t>/</a:t>
            </a:r>
            <a:r>
              <a:rPr lang="es-CL" sz="1500" dirty="0" err="1"/>
              <a:t>login</a:t>
            </a:r>
            <a:r>
              <a:rPr lang="es-CL" sz="1500" dirty="0"/>
              <a:t> (ya OK).</a:t>
            </a:r>
          </a:p>
          <a:p>
            <a:pPr>
              <a:lnSpc>
                <a:spcPct val="100000"/>
              </a:lnSpc>
            </a:pPr>
            <a:r>
              <a:rPr lang="es-CL" sz="1500" dirty="0"/>
              <a:t>GET /api/</a:t>
            </a:r>
            <a:r>
              <a:rPr lang="es-CL" sz="1500" dirty="0" err="1"/>
              <a:t>doctors</a:t>
            </a:r>
            <a:r>
              <a:rPr lang="es-CL" sz="1500" dirty="0"/>
              <a:t>, GET /api/</a:t>
            </a:r>
            <a:r>
              <a:rPr lang="es-CL" sz="1500" dirty="0" err="1"/>
              <a:t>doctors</a:t>
            </a:r>
            <a:r>
              <a:rPr lang="es-CL" sz="1500" dirty="0"/>
              <a:t>/{id} (catálogo visible sin </a:t>
            </a:r>
            <a:r>
              <a:rPr lang="es-CL" sz="1500" dirty="0" err="1"/>
              <a:t>login</a:t>
            </a:r>
            <a:r>
              <a:rPr lang="es-CL" sz="1500" dirty="0"/>
              <a:t>).</a:t>
            </a:r>
          </a:p>
          <a:p>
            <a:pPr>
              <a:lnSpc>
                <a:spcPct val="100000"/>
              </a:lnSpc>
            </a:pPr>
            <a:r>
              <a:rPr lang="es-CL" sz="1500" dirty="0"/>
              <a:t>Con token (y dueño)</a:t>
            </a:r>
          </a:p>
          <a:p>
            <a:pPr>
              <a:lnSpc>
                <a:spcPct val="100000"/>
              </a:lnSpc>
            </a:pPr>
            <a:r>
              <a:rPr lang="es-CL" sz="1500" dirty="0" err="1"/>
              <a:t>Appointments</a:t>
            </a:r>
            <a:endParaRPr lang="es-CL" sz="1500" dirty="0"/>
          </a:p>
          <a:p>
            <a:pPr>
              <a:lnSpc>
                <a:spcPct val="100000"/>
              </a:lnSpc>
            </a:pPr>
            <a:r>
              <a:rPr lang="es-CL" sz="1500" dirty="0"/>
              <a:t>GET /api/</a:t>
            </a:r>
            <a:r>
              <a:rPr lang="es-CL" sz="1500" dirty="0" err="1"/>
              <a:t>appointments</a:t>
            </a:r>
            <a:endParaRPr lang="es-CL" sz="1500" dirty="0"/>
          </a:p>
          <a:p>
            <a:pPr>
              <a:lnSpc>
                <a:spcPct val="100000"/>
              </a:lnSpc>
            </a:pPr>
            <a:r>
              <a:rPr lang="es-CL" sz="1500" dirty="0" err="1"/>
              <a:t>Admin</a:t>
            </a:r>
            <a:r>
              <a:rPr lang="es-CL" sz="1500" dirty="0"/>
              <a:t>: ve todas</a:t>
            </a:r>
          </a:p>
          <a:p>
            <a:pPr>
              <a:lnSpc>
                <a:spcPct val="100000"/>
              </a:lnSpc>
            </a:pPr>
            <a:r>
              <a:rPr lang="es-CL" sz="1500" dirty="0"/>
              <a:t>Doctor: solo citas donde </a:t>
            </a:r>
            <a:r>
              <a:rPr lang="es-CL" sz="1500" dirty="0" err="1"/>
              <a:t>Doctor.UserId</a:t>
            </a:r>
            <a:r>
              <a:rPr lang="es-CL" sz="1500" dirty="0"/>
              <a:t> == </a:t>
            </a:r>
            <a:r>
              <a:rPr lang="es-CL" sz="1500" dirty="0" err="1"/>
              <a:t>userId</a:t>
            </a:r>
            <a:endParaRPr lang="es-CL" sz="1500" dirty="0"/>
          </a:p>
          <a:p>
            <a:pPr>
              <a:lnSpc>
                <a:spcPct val="100000"/>
              </a:lnSpc>
            </a:pPr>
            <a:r>
              <a:rPr lang="es-CL" sz="1500" dirty="0" err="1"/>
              <a:t>Patient</a:t>
            </a:r>
            <a:r>
              <a:rPr lang="es-CL" sz="1500" dirty="0"/>
              <a:t>: solo citas donde </a:t>
            </a:r>
            <a:r>
              <a:rPr lang="es-CL" sz="1500" dirty="0" err="1"/>
              <a:t>Patient.UserId</a:t>
            </a:r>
            <a:r>
              <a:rPr lang="es-CL" sz="1500" dirty="0"/>
              <a:t> == </a:t>
            </a:r>
            <a:r>
              <a:rPr lang="es-CL" sz="1500" dirty="0" err="1"/>
              <a:t>userId</a:t>
            </a:r>
            <a:endParaRPr lang="es-CL" sz="1500" dirty="0"/>
          </a:p>
          <a:p>
            <a:endParaRPr lang="es-CL" sz="15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5D6C1945-AA0D-A642-1E3E-270DDBB6EB49}"/>
              </a:ext>
            </a:extLst>
          </p:cNvPr>
          <p:cNvSpPr txBox="1">
            <a:spLocks/>
          </p:cNvSpPr>
          <p:nvPr/>
        </p:nvSpPr>
        <p:spPr>
          <a:xfrm>
            <a:off x="9382215" y="2418879"/>
            <a:ext cx="5248185" cy="41407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74320" indent="-274320" algn="l" defTabSz="1097280" rtl="0" eaLnBrk="1" latinLnBrk="0" hangingPunct="1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6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8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4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4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PATCH /api/</a:t>
            </a:r>
            <a:r>
              <a:rPr lang="es-CL" dirty="0" err="1"/>
              <a:t>appointments</a:t>
            </a:r>
            <a:r>
              <a:rPr lang="es-CL" dirty="0"/>
              <a:t>/{id}/status</a:t>
            </a:r>
          </a:p>
          <a:p>
            <a:r>
              <a:rPr lang="es-CL" dirty="0"/>
              <a:t>Doctor (solo su cita) o </a:t>
            </a:r>
            <a:r>
              <a:rPr lang="es-CL" dirty="0" err="1"/>
              <a:t>Admin</a:t>
            </a:r>
            <a:r>
              <a:rPr lang="es-CL" dirty="0"/>
              <a:t>.</a:t>
            </a:r>
            <a:br>
              <a:rPr lang="es-CL" dirty="0"/>
            </a:br>
            <a:r>
              <a:rPr lang="es-CL" dirty="0"/>
              <a:t>(Partimos desde tu </a:t>
            </a:r>
            <a:r>
              <a:rPr lang="es-CL" dirty="0" err="1"/>
              <a:t>controller</a:t>
            </a:r>
            <a:r>
              <a:rPr lang="es-CL" dirty="0"/>
              <a:t> actual. )</a:t>
            </a:r>
          </a:p>
          <a:p>
            <a:r>
              <a:rPr lang="es-CL" dirty="0" err="1"/>
              <a:t>Patients</a:t>
            </a:r>
            <a:endParaRPr lang="es-CL" dirty="0"/>
          </a:p>
          <a:p>
            <a:r>
              <a:rPr lang="es-CL" dirty="0"/>
              <a:t>Todo el </a:t>
            </a:r>
            <a:r>
              <a:rPr lang="es-CL" dirty="0" err="1"/>
              <a:t>controller</a:t>
            </a:r>
            <a:r>
              <a:rPr lang="es-CL" dirty="0"/>
              <a:t>: </a:t>
            </a:r>
            <a:r>
              <a:rPr lang="es-CL" dirty="0" err="1"/>
              <a:t>Doctor,Admin</a:t>
            </a:r>
            <a:r>
              <a:rPr lang="es-CL" dirty="0"/>
              <a:t> (datos sensibles).</a:t>
            </a:r>
          </a:p>
          <a:p>
            <a:r>
              <a:rPr lang="es-CL" dirty="0"/>
              <a:t>(Opcional) GET /api/</a:t>
            </a:r>
            <a:r>
              <a:rPr lang="es-CL" dirty="0" err="1"/>
              <a:t>patients</a:t>
            </a:r>
            <a:r>
              <a:rPr lang="es-CL" dirty="0"/>
              <a:t>/me: </a:t>
            </a:r>
            <a:r>
              <a:rPr lang="es-CL" dirty="0" err="1"/>
              <a:t>Patient</a:t>
            </a:r>
            <a:r>
              <a:rPr lang="es-CL" dirty="0"/>
              <a:t> ve solo su ficha.</a:t>
            </a:r>
          </a:p>
          <a:p>
            <a:r>
              <a:rPr lang="es-CL" dirty="0" err="1"/>
              <a:t>Doctors</a:t>
            </a:r>
            <a:endParaRPr lang="es-CL" dirty="0"/>
          </a:p>
          <a:p>
            <a:r>
              <a:rPr lang="es-CL" dirty="0"/>
              <a:t>Listado/detalle: </a:t>
            </a:r>
            <a:r>
              <a:rPr lang="es-CL" dirty="0" err="1"/>
              <a:t>AllowAnonymous</a:t>
            </a:r>
            <a:r>
              <a:rPr lang="es-CL" dirty="0"/>
              <a:t> como ahora.</a:t>
            </a:r>
          </a:p>
          <a:p>
            <a:r>
              <a:rPr lang="es-CL" dirty="0"/>
              <a:t>(Opcional) GET /api/</a:t>
            </a:r>
            <a:r>
              <a:rPr lang="es-CL" dirty="0" err="1"/>
              <a:t>doctors</a:t>
            </a:r>
            <a:r>
              <a:rPr lang="es-CL" dirty="0"/>
              <a:t>/me: Doctor ve su perfil.</a:t>
            </a:r>
          </a:p>
        </p:txBody>
      </p:sp>
    </p:spTree>
    <p:extLst>
      <p:ext uri="{BB962C8B-B14F-4D97-AF65-F5344CB8AC3E}">
        <p14:creationId xmlns:p14="http://schemas.microsoft.com/office/powerpoint/2010/main" val="264245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45A9-3C1F-75B6-3440-0BA4368D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A389BF-4EA5-F613-4727-8A5A02A84577}"/>
              </a:ext>
            </a:extLst>
          </p:cNvPr>
          <p:cNvSpPr/>
          <p:nvPr/>
        </p:nvSpPr>
        <p:spPr>
          <a:xfrm>
            <a:off x="1382417" y="320289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Resultados o Evidencia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4C77779-4B55-5375-4808-3AED0EB69148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5835E4-D460-0237-D82D-B75819684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081" y="1103948"/>
            <a:ext cx="11346077" cy="689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63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9498-13B9-10A3-57B0-29D3E01F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51A928-6668-6D0D-9DB4-D4A73795EBEB}"/>
              </a:ext>
            </a:extLst>
          </p:cNvPr>
          <p:cNvSpPr/>
          <p:nvPr/>
        </p:nvSpPr>
        <p:spPr>
          <a:xfrm>
            <a:off x="1382417" y="320289"/>
            <a:ext cx="5063353" cy="50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Diagrama de Base de Datos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FB58816-F6C4-926D-2896-3426C29EB3E1}"/>
              </a:ext>
            </a:extLst>
          </p:cNvPr>
          <p:cNvSpPr/>
          <p:nvPr/>
        </p:nvSpPr>
        <p:spPr>
          <a:xfrm>
            <a:off x="773495" y="1332548"/>
            <a:ext cx="12287250" cy="5057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246063" lvl="1" defTabSz="404813">
              <a:lnSpc>
                <a:spcPct val="150000"/>
              </a:lnSpc>
              <a:tabLst>
                <a:tab pos="16225838" algn="l"/>
                <a:tab pos="16592550" algn="l"/>
                <a:tab pos="17124363" algn="l"/>
              </a:tabLst>
            </a:pPr>
            <a:endParaRPr lang="es-419" sz="2400" noProof="0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071420-8B5A-BD9B-64DA-A1B090A54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161" y="0"/>
            <a:ext cx="4981934" cy="74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9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6CE9-3A22-BF8A-4C17-8B63D52D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6EAC2C-18BB-204D-FB03-7EE53973B1D9}"/>
              </a:ext>
            </a:extLst>
          </p:cNvPr>
          <p:cNvSpPr/>
          <p:nvPr/>
        </p:nvSpPr>
        <p:spPr>
          <a:xfrm>
            <a:off x="1207001" y="32670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 err="1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Stack</a:t>
            </a: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Técnico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F37546-4222-4C49-60B1-207E1AEEE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280" y="384048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.NET 8 Web API (C#),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Core, SQL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Vite +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IA: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(modelo GPT‑4o o GPT‑5, a definir en configuración)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Autenticación: JWT con roles (Paciente, Médico, Administrador)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Observabilidad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logs estructurados y métricas básicas</a:t>
            </a:r>
          </a:p>
        </p:txBody>
      </p:sp>
    </p:spTree>
    <p:extLst>
      <p:ext uri="{BB962C8B-B14F-4D97-AF65-F5344CB8AC3E}">
        <p14:creationId xmlns:p14="http://schemas.microsoft.com/office/powerpoint/2010/main" val="348460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05A1-467B-E147-803A-3F1D75F3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335EEC-D967-5FCC-CE17-A17656B9F5A4}"/>
              </a:ext>
            </a:extLst>
          </p:cNvPr>
          <p:cNvSpPr/>
          <p:nvPr/>
        </p:nvSpPr>
        <p:spPr>
          <a:xfrm>
            <a:off x="1207001" y="1332548"/>
            <a:ext cx="705314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s-419" sz="35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Conclusión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F9EC8B4-251E-EF19-7625-0ED1713E6B6E}"/>
              </a:ext>
            </a:extLst>
          </p:cNvPr>
          <p:cNvSpPr/>
          <p:nvPr/>
        </p:nvSpPr>
        <p:spPr>
          <a:xfrm>
            <a:off x="773495" y="2261019"/>
            <a:ext cx="12287250" cy="43797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spAutoFit/>
          </a:bodyPr>
          <a:lstStyle/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✅ MediTriage responde a un problema real en salud, optimizando tiempos y mejorando la experiencia del paciente.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🤖 Integra IA y reglas de seguridad para decisiones innovadoras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📊 Evidencia preliminar confirma viabilidad técnica y utilidad percibida.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🎓 Aporta valor académico y profesional en IA aplicada, desarrollo ágil y soluciones críticas en salud.</a:t>
            </a:r>
          </a:p>
          <a:p>
            <a:pPr marL="531813" lvl="1" indent="-285750" defTabSz="404813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225838" algn="l"/>
                <a:tab pos="16592550" algn="l"/>
                <a:tab pos="17124363" algn="l"/>
              </a:tabLst>
            </a:pPr>
            <a:r>
              <a:rPr lang="es-419" sz="2400" noProof="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🌐 Proyección: telemedicina, integraciones nacionales y análisis de tendencias epidemiológicas</a:t>
            </a:r>
            <a:endParaRPr lang="es-419" sz="2400" noProof="0" dirty="0"/>
          </a:p>
        </p:txBody>
      </p:sp>
    </p:spTree>
    <p:extLst>
      <p:ext uri="{BB962C8B-B14F-4D97-AF65-F5344CB8AC3E}">
        <p14:creationId xmlns:p14="http://schemas.microsoft.com/office/powerpoint/2010/main" val="2795812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BD5C-45C9-F1FE-5B2B-29665E9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B898BD-CD4C-C20E-DD22-C201D3AA7B0E}"/>
              </a:ext>
            </a:extLst>
          </p:cNvPr>
          <p:cNvSpPr/>
          <p:nvPr/>
        </p:nvSpPr>
        <p:spPr>
          <a:xfrm>
            <a:off x="2637986" y="3057993"/>
            <a:ext cx="8604918" cy="18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s-419" sz="8000" noProof="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258819869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196</TotalTime>
  <Words>1184</Words>
  <Application>Microsoft Office PowerPoint</Application>
  <PresentationFormat>Personalizado</PresentationFormat>
  <Paragraphs>181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Gill Sans MT</vt:lpstr>
      <vt:lpstr>Arial</vt:lpstr>
      <vt:lpstr>Source Serif 4 Semi Bold</vt:lpstr>
      <vt:lpstr>Source Sans 3</vt:lpstr>
      <vt:lpstr>Aptos Narrow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Matias Robert Cuevas Carreno</cp:lastModifiedBy>
  <cp:revision>5</cp:revision>
  <dcterms:created xsi:type="dcterms:W3CDTF">2025-09-01T01:21:58Z</dcterms:created>
  <dcterms:modified xsi:type="dcterms:W3CDTF">2025-09-04T19:19:42Z</dcterms:modified>
</cp:coreProperties>
</file>