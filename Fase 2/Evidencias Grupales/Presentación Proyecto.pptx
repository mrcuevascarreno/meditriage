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26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4" r:id="rId10"/>
    <p:sldId id="278" r:id="rId11"/>
    <p:sldId id="270" r:id="rId12"/>
    <p:sldId id="280" r:id="rId13"/>
    <p:sldId id="282" r:id="rId14"/>
    <p:sldId id="269" r:id="rId15"/>
    <p:sldId id="274" r:id="rId16"/>
  </p:sldIdLst>
  <p:sldSz cx="14630400" cy="8229600"/>
  <p:notesSz cx="8229600" cy="14630400"/>
  <p:embeddedFontLst>
    <p:embeddedFont>
      <p:font typeface="Aptos Narrow" panose="020B0004020202020204" pitchFamily="34" charset="0"/>
      <p:regular r:id="rId18"/>
      <p:bold r:id="rId19"/>
      <p:italic r:id="rId20"/>
      <p:boldItalic r:id="rId21"/>
    </p:embeddedFont>
    <p:embeddedFont>
      <p:font typeface="Gill Sans MT" panose="020B0502020104020203" pitchFamily="34" charset="0"/>
      <p:regular r:id="rId22"/>
      <p:bold r:id="rId23"/>
      <p:italic r:id="rId24"/>
      <p:boldItalic r:id="rId25"/>
    </p:embeddedFont>
    <p:embeddedFont>
      <p:font typeface="Source Sans 3" panose="020B0604020202020204" charset="0"/>
      <p:regular r:id="rId26"/>
    </p:embeddedFont>
    <p:embeddedFont>
      <p:font typeface="Source Serif 4 Semi Bold" panose="020B0604020202020204" charset="0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360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09077-8BD8-E8F5-525A-57DB78E11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95D433-7BCD-5991-DA02-7827CA24E4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AEACBA-F05D-8ACF-A19C-E6829AB0C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EF734-1648-DF2F-61DD-EB4297CD71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6121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5E7A7-B918-69BF-9879-FCA16BD9B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D38C74-7FE6-F75C-E4C8-FF69D3680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720593-E417-C270-198E-0234F3221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8F4EB-CF2D-4769-6321-4B0E194376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548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1F86E-F4B1-9B0E-FD89-4FF5415A1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314310-F383-DEA7-6F3E-A56CFF8E5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175235-733D-FB16-1943-9B0DE0689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C16BB-1996-0963-56AE-6415A9EF9C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8419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BE5AD-A486-62ED-AB6C-ECD1210E1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91FADD-28A9-32F8-11FF-AB30DE8F0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4E8A1-3D16-9BF0-2131-127076B3D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89FD4-D5B3-A0E2-7547-6247F5B1BB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9266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15C90-D3FD-4CEC-FFD0-A8CF4E99C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A54381-8F59-9FBD-8013-4409B8A6C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2534A1-9AA0-D0B7-8541-6E268D25F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600FD-0FAD-A198-FACD-214CBE3072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334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83B39-1B24-EA80-035C-F03DBB7D1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78FB31-F90F-A214-8D93-CBFDE06C0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86B29-ECD3-A788-E401-352BDB02F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D256B-DA5E-15EA-579A-1FFD24CF2D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356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01335" y="962758"/>
            <a:ext cx="10364488" cy="3049717"/>
          </a:xfrm>
        </p:spPr>
        <p:txBody>
          <a:bodyPr bIns="0" anchor="b">
            <a:normAutofit/>
          </a:bodyPr>
          <a:lstStyle>
            <a:lvl1pPr algn="l">
              <a:defRPr sz="792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01336" y="4237446"/>
            <a:ext cx="10364486" cy="117314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2160" b="0" cap="all" baseline="0">
                <a:solidFill>
                  <a:schemeClr val="tx1"/>
                </a:solidFill>
              </a:defRPr>
            </a:lvl1pPr>
            <a:lvl2pPr marL="548640" indent="0" algn="ctr">
              <a:buNone/>
              <a:defRPr sz="216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9801" y="395169"/>
            <a:ext cx="5968698" cy="3710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5197" y="958767"/>
            <a:ext cx="973223" cy="604294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901336" y="4234250"/>
            <a:ext cx="1036448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0897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5042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5087" y="2107356"/>
            <a:ext cx="10371785" cy="2265540"/>
          </a:xfrm>
        </p:spPr>
        <p:txBody>
          <a:bodyPr anchor="b">
            <a:normAutofit/>
          </a:bodyPr>
          <a:lstStyle>
            <a:lvl1pPr algn="l">
              <a:defRPr sz="432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5087" y="4567435"/>
            <a:ext cx="10356535" cy="1215515"/>
          </a:xfrm>
        </p:spPr>
        <p:txBody>
          <a:bodyPr tIns="91440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45087" y="4565982"/>
            <a:ext cx="103565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74787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9061" y="965867"/>
            <a:ext cx="11526762" cy="127116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6797" y="2413054"/>
            <a:ext cx="5574182" cy="41383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96525" y="2420812"/>
            <a:ext cx="5574182" cy="412982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32368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6630" y="964996"/>
            <a:ext cx="11529193" cy="126758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6629" y="2423459"/>
            <a:ext cx="5574182" cy="9623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640" b="0" cap="all" baseline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6629" y="3389124"/>
            <a:ext cx="5574182" cy="317334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94835" y="2427604"/>
            <a:ext cx="5574182" cy="9626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640" b="0" cap="all" baseline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94835" y="3385790"/>
            <a:ext cx="5574182" cy="316484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32092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68238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11776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606" y="958768"/>
            <a:ext cx="3927719" cy="2696540"/>
          </a:xfrm>
        </p:spPr>
        <p:txBody>
          <a:bodyPr anchor="b">
            <a:normAutofit/>
          </a:bodyPr>
          <a:lstStyle>
            <a:lvl1pPr algn="l">
              <a:defRPr sz="28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2457" y="958769"/>
            <a:ext cx="7214964" cy="5590591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3606" y="3846590"/>
            <a:ext cx="3930016" cy="2697817"/>
          </a:xfrm>
        </p:spPr>
        <p:txBody>
          <a:bodyPr/>
          <a:lstStyle>
            <a:lvl1pPr marL="0" indent="0" algn="l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737936" y="3846589"/>
            <a:ext cx="392338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86066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8972865" y="578605"/>
            <a:ext cx="4889440" cy="617892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1447" y="1355416"/>
            <a:ext cx="6638794" cy="2196701"/>
          </a:xfrm>
        </p:spPr>
        <p:txBody>
          <a:bodyPr anchor="b">
            <a:normAutofit/>
          </a:bodyPr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49268" y="1347051"/>
            <a:ext cx="3349405" cy="4639592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40395" y="3775191"/>
            <a:ext cx="6629285" cy="2404490"/>
          </a:xfrm>
        </p:spPr>
        <p:txBody>
          <a:bodyPr>
            <a:normAutofit/>
          </a:bodyPr>
          <a:lstStyle>
            <a:lvl1pPr marL="0" indent="0" algn="l">
              <a:buNone/>
              <a:defRPr sz="216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736859" y="6563828"/>
            <a:ext cx="6632821" cy="384148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10/28/2025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36858" y="382369"/>
            <a:ext cx="6649205" cy="38511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36859" y="3772326"/>
            <a:ext cx="66328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38763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0067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26933" y="958768"/>
            <a:ext cx="1938890" cy="559186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3606" y="958768"/>
            <a:ext cx="9394596" cy="559186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1326933" y="958768"/>
            <a:ext cx="0" cy="559186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1734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8843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755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1647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8632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842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79335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2412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29013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44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423372"/>
            <a:ext cx="14630400" cy="49271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419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351776"/>
            <a:ext cx="14630400" cy="89154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41895" y="965423"/>
            <a:ext cx="11523930" cy="12590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1895" y="2418879"/>
            <a:ext cx="11523930" cy="4140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4966" y="396445"/>
            <a:ext cx="4200858" cy="371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1895" y="395169"/>
            <a:ext cx="7126603" cy="371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6073" y="958767"/>
            <a:ext cx="973223" cy="60429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336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7354096"/>
            <a:ext cx="146304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6874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6" r:id="rId19"/>
    <p:sldLayoutId id="2147483747" r:id="rId20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384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20000"/>
        </a:lnSpc>
        <a:spcBef>
          <a:spcPts val="12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16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2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8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560320"/>
            <a:ext cx="4663440" cy="3108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24124" y="284821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MediTriage – Plataforma de Citas Médicas con Triage IA</a:t>
            </a:r>
            <a:endParaRPr lang="es-419" sz="4400" noProof="0" dirty="0"/>
          </a:p>
        </p:txBody>
      </p:sp>
      <p:sp>
        <p:nvSpPr>
          <p:cNvPr id="5" name="Text 1"/>
          <p:cNvSpPr/>
          <p:nvPr/>
        </p:nvSpPr>
        <p:spPr>
          <a:xfrm>
            <a:off x="6324124" y="4615220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Bienvenida a la presentación de MediTriage, un proyecto innovador en la gestión de citas médicas.</a:t>
            </a:r>
            <a:endParaRPr lang="es-419" sz="1850" noProof="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21114AA-578E-C3BD-AD7C-3C23BC62B4EA}"/>
              </a:ext>
            </a:extLst>
          </p:cNvPr>
          <p:cNvSpPr/>
          <p:nvPr/>
        </p:nvSpPr>
        <p:spPr>
          <a:xfrm>
            <a:off x="11405939" y="6099114"/>
            <a:ext cx="3224461" cy="124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</a:rPr>
              <a:t>Docente: Alex Zúñiga </a:t>
            </a:r>
          </a:p>
          <a:p>
            <a:pPr marL="0" indent="0" algn="ctr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</a:rPr>
              <a:t>Integrantes</a:t>
            </a:r>
            <a:r>
              <a:rPr lang="es-419" sz="1850" dirty="0">
                <a:solidFill>
                  <a:srgbClr val="272525"/>
                </a:solidFill>
                <a:latin typeface="Source Sans 3" pitchFamily="34" charset="0"/>
              </a:rPr>
              <a:t>: Matías cuevas </a:t>
            </a:r>
          </a:p>
          <a:p>
            <a:pPr marL="0" indent="0" algn="ctr">
              <a:lnSpc>
                <a:spcPts val="3000"/>
              </a:lnSpc>
              <a:buNone/>
            </a:pPr>
            <a:r>
              <a:rPr lang="es-419" sz="1850" dirty="0">
                <a:solidFill>
                  <a:srgbClr val="272525"/>
                </a:solidFill>
                <a:latin typeface="Source Sans 3" pitchFamily="34" charset="0"/>
              </a:rPr>
              <a:t>Raúl Benavides</a:t>
            </a:r>
            <a:endParaRPr lang="es-419" sz="1850" noProof="0" dirty="0">
              <a:solidFill>
                <a:srgbClr val="272525"/>
              </a:solidFill>
              <a:latin typeface="Source Sans 3" pitchFamily="34" charset="0"/>
            </a:endParaRPr>
          </a:p>
          <a:p>
            <a:pPr marL="0" indent="0" algn="ctr">
              <a:lnSpc>
                <a:spcPts val="3000"/>
              </a:lnSpc>
              <a:buNone/>
            </a:pPr>
            <a:endParaRPr lang="es-419" sz="185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1954054"/>
            <a:ext cx="5278279" cy="52782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2798" y="588764"/>
            <a:ext cx="4088130" cy="50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s-419" sz="315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Contexto y Problema</a:t>
            </a:r>
            <a:endParaRPr lang="es-419" sz="3150" noProof="0" dirty="0"/>
          </a:p>
        </p:txBody>
      </p:sp>
      <p:sp>
        <p:nvSpPr>
          <p:cNvPr id="5" name="Text 2"/>
          <p:cNvSpPr/>
          <p:nvPr/>
        </p:nvSpPr>
        <p:spPr>
          <a:xfrm>
            <a:off x="6895780" y="1831232"/>
            <a:ext cx="6214705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s-419" sz="2000" noProof="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Sobrecarga y mala orientación</a:t>
            </a:r>
            <a:r>
              <a:rPr lang="es-419" sz="20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 agendas médicas: un problema generalizado que afecta a pacientes y profesionales.</a:t>
            </a:r>
            <a:endParaRPr lang="es-419" sz="2000" noProof="0" dirty="0"/>
          </a:p>
        </p:txBody>
      </p:sp>
      <p:sp>
        <p:nvSpPr>
          <p:cNvPr id="6" name="Text 3"/>
          <p:cNvSpPr/>
          <p:nvPr/>
        </p:nvSpPr>
        <p:spPr>
          <a:xfrm>
            <a:off x="6895780" y="3645396"/>
            <a:ext cx="6214705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s-419" sz="20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Pacientes que reservan citas en especialidades incorrectas, retrasando diagnósticos.</a:t>
            </a:r>
            <a:endParaRPr lang="es-419" sz="2000" noProof="0" dirty="0"/>
          </a:p>
        </p:txBody>
      </p:sp>
      <p:sp>
        <p:nvSpPr>
          <p:cNvPr id="7" name="Text 4"/>
          <p:cNvSpPr/>
          <p:nvPr/>
        </p:nvSpPr>
        <p:spPr>
          <a:xfrm>
            <a:off x="6895780" y="4641414"/>
            <a:ext cx="6214705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s-419" sz="20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Ineficiencia en la gestión de recursos médicos, generando esperas innecesarias.</a:t>
            </a:r>
            <a:endParaRPr lang="es-419" sz="20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36621"/>
            <a:ext cx="635936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Impacto y Oportunidad</a:t>
            </a:r>
            <a:endParaRPr lang="es-419" sz="4400" noProof="0" dirty="0"/>
          </a:p>
        </p:txBody>
      </p:sp>
      <p:sp>
        <p:nvSpPr>
          <p:cNvPr id="3" name="Text 1"/>
          <p:cNvSpPr/>
          <p:nvPr/>
        </p:nvSpPr>
        <p:spPr>
          <a:xfrm>
            <a:off x="837724" y="2838926"/>
            <a:ext cx="5178028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Relevancia del Proyecto</a:t>
            </a:r>
            <a:endParaRPr lang="es-419" sz="3500" noProof="0" dirty="0"/>
          </a:p>
        </p:txBody>
      </p:sp>
      <p:sp>
        <p:nvSpPr>
          <p:cNvPr id="4" name="Text 2"/>
          <p:cNvSpPr/>
          <p:nvPr/>
        </p:nvSpPr>
        <p:spPr>
          <a:xfrm>
            <a:off x="837724" y="3641527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Optimiza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la asignación de citas médicas, dirigiendo a cada paciente al especialista adecuado.</a:t>
            </a:r>
            <a:endParaRPr lang="es-419" sz="1850" noProof="0" dirty="0"/>
          </a:p>
        </p:txBody>
      </p:sp>
      <p:sp>
        <p:nvSpPr>
          <p:cNvPr id="5" name="Text 3"/>
          <p:cNvSpPr/>
          <p:nvPr/>
        </p:nvSpPr>
        <p:spPr>
          <a:xfrm>
            <a:off x="837724" y="4491276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Mejora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la experiencia del paciente, reduciendo tiempos de espera y frustraciones.</a:t>
            </a:r>
            <a:endParaRPr lang="es-419" sz="1850" noProof="0" dirty="0"/>
          </a:p>
        </p:txBody>
      </p:sp>
      <p:sp>
        <p:nvSpPr>
          <p:cNvPr id="6" name="Text 4"/>
          <p:cNvSpPr/>
          <p:nvPr/>
        </p:nvSpPr>
        <p:spPr>
          <a:xfrm>
            <a:off x="837724" y="5341025"/>
            <a:ext cx="61855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Aporta valor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al campo de la informática aplicando IA en un entorno crítico como la salud, abriendo nuevas vías de eficiencia.</a:t>
            </a:r>
            <a:endParaRPr lang="es-419" sz="1850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761" y="2868811"/>
            <a:ext cx="6185535" cy="35548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72133"/>
            <a:ext cx="962227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MediTriage: La Solución Inteligente</a:t>
            </a:r>
            <a:endParaRPr lang="es-419" sz="4400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204323"/>
            <a:ext cx="4997053" cy="32665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0" y="1641038"/>
            <a:ext cx="450592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¿Qué es MediTriage?</a:t>
            </a:r>
            <a:endParaRPr lang="es-419" sz="3500" noProof="0" dirty="0"/>
          </a:p>
        </p:txBody>
      </p:sp>
      <p:sp>
        <p:nvSpPr>
          <p:cNvPr id="5" name="Text 2"/>
          <p:cNvSpPr/>
          <p:nvPr/>
        </p:nvSpPr>
        <p:spPr>
          <a:xfrm>
            <a:off x="7315200" y="2443639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Una </a:t>
            </a:r>
            <a:r>
              <a:rPr lang="es-419" sz="1850" noProof="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plataforma web integral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diseñada para optimizar el agendamiento y la gestión de citas médicas mediante:</a:t>
            </a:r>
            <a:endParaRPr lang="es-419" sz="1850" noProof="0" dirty="0"/>
          </a:p>
        </p:txBody>
      </p:sp>
      <p:sp>
        <p:nvSpPr>
          <p:cNvPr id="6" name="Text 3"/>
          <p:cNvSpPr/>
          <p:nvPr/>
        </p:nvSpPr>
        <p:spPr>
          <a:xfrm>
            <a:off x="7315200" y="3425071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Cuestionario dinámico de síntomas para una evaluación inicial.</a:t>
            </a:r>
            <a:endParaRPr lang="es-419" sz="1850" noProof="0" dirty="0"/>
          </a:p>
        </p:txBody>
      </p:sp>
      <p:sp>
        <p:nvSpPr>
          <p:cNvPr id="7" name="Text 4"/>
          <p:cNvSpPr/>
          <p:nvPr/>
        </p:nvSpPr>
        <p:spPr>
          <a:xfrm>
            <a:off x="7315200" y="4274820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Motor de reglas para detectar "banderas rojas" y casos de urgencia.</a:t>
            </a:r>
            <a:endParaRPr lang="es-419" sz="1850" noProof="0" dirty="0"/>
          </a:p>
        </p:txBody>
      </p:sp>
      <p:sp>
        <p:nvSpPr>
          <p:cNvPr id="8" name="Text 5"/>
          <p:cNvSpPr/>
          <p:nvPr/>
        </p:nvSpPr>
        <p:spPr>
          <a:xfrm>
            <a:off x="7315200" y="5124569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Módulo de IA para orientar el nivel de urgencia y la especialidad más adecuada.</a:t>
            </a:r>
            <a:endParaRPr lang="es-419" sz="1850" noProof="0" dirty="0"/>
          </a:p>
        </p:txBody>
      </p:sp>
      <p:sp>
        <p:nvSpPr>
          <p:cNvPr id="9" name="Text 6"/>
          <p:cNvSpPr/>
          <p:nvPr/>
        </p:nvSpPr>
        <p:spPr>
          <a:xfrm>
            <a:off x="7315199" y="6025278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Panel de médicos para una gestión eficiente y visualización del </a:t>
            </a:r>
            <a:r>
              <a:rPr lang="es-419" sz="185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triage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previo.</a:t>
            </a:r>
            <a:endParaRPr lang="es-419" sz="185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37962"/>
            <a:ext cx="694503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Hoja de Ruta del Proyecto</a:t>
            </a:r>
            <a:endParaRPr lang="es-419" sz="4400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170152"/>
            <a:ext cx="4952167" cy="49521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10026" y="1843858"/>
            <a:ext cx="4843701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Objetivos del Proyecto</a:t>
            </a:r>
            <a:endParaRPr lang="es-419" sz="3500" noProof="0" dirty="0"/>
          </a:p>
        </p:txBody>
      </p:sp>
      <p:sp>
        <p:nvSpPr>
          <p:cNvPr id="5" name="Text 2"/>
          <p:cNvSpPr/>
          <p:nvPr/>
        </p:nvSpPr>
        <p:spPr>
          <a:xfrm>
            <a:off x="7210026" y="2646459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Objetivo General:</a:t>
            </a:r>
            <a:endParaRPr lang="es-419" sz="1850" noProof="0" dirty="0"/>
          </a:p>
        </p:txBody>
      </p:sp>
      <p:sp>
        <p:nvSpPr>
          <p:cNvPr id="6" name="Text 3"/>
          <p:cNvSpPr/>
          <p:nvPr/>
        </p:nvSpPr>
        <p:spPr>
          <a:xfrm>
            <a:off x="7210026" y="3244867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Desarrollar una plataforma web para la gestión de citas médicas con </a:t>
            </a:r>
            <a:r>
              <a:rPr lang="es-419" sz="185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triage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IA y motor de reglas integrado.</a:t>
            </a:r>
            <a:endParaRPr lang="es-419" sz="1850" noProof="0" dirty="0"/>
          </a:p>
        </p:txBody>
      </p:sp>
      <p:sp>
        <p:nvSpPr>
          <p:cNvPr id="7" name="Text 4"/>
          <p:cNvSpPr/>
          <p:nvPr/>
        </p:nvSpPr>
        <p:spPr>
          <a:xfrm>
            <a:off x="7210026" y="4226299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Objetivos Específicos:</a:t>
            </a:r>
            <a:endParaRPr lang="es-419" sz="1850" noProof="0" dirty="0"/>
          </a:p>
        </p:txBody>
      </p:sp>
      <p:sp>
        <p:nvSpPr>
          <p:cNvPr id="8" name="Text 5"/>
          <p:cNvSpPr/>
          <p:nvPr/>
        </p:nvSpPr>
        <p:spPr>
          <a:xfrm>
            <a:off x="7210026" y="4824707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Implementar autenticación y gestión de usuarios robusta.</a:t>
            </a:r>
            <a:endParaRPr lang="es-419" sz="1850" noProof="0" dirty="0"/>
          </a:p>
        </p:txBody>
      </p:sp>
      <p:sp>
        <p:nvSpPr>
          <p:cNvPr id="9" name="Text 6"/>
          <p:cNvSpPr/>
          <p:nvPr/>
        </p:nvSpPr>
        <p:spPr>
          <a:xfrm>
            <a:off x="7210026" y="5291432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Diseñar un modelo de datos escalable para agenda y citas.</a:t>
            </a:r>
            <a:endParaRPr lang="es-419" sz="1850" noProof="0" dirty="0"/>
          </a:p>
        </p:txBody>
      </p:sp>
      <p:sp>
        <p:nvSpPr>
          <p:cNvPr id="10" name="Text 7"/>
          <p:cNvSpPr/>
          <p:nvPr/>
        </p:nvSpPr>
        <p:spPr>
          <a:xfrm>
            <a:off x="7210026" y="5758157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Integrar un servicio de IA para orientación precisa de urgencia y especialidad.</a:t>
            </a:r>
            <a:endParaRPr lang="es-419" sz="1850" noProof="0" dirty="0"/>
          </a:p>
        </p:txBody>
      </p:sp>
      <p:sp>
        <p:nvSpPr>
          <p:cNvPr id="11" name="Text 8"/>
          <p:cNvSpPr/>
          <p:nvPr/>
        </p:nvSpPr>
        <p:spPr>
          <a:xfrm>
            <a:off x="7202406" y="6442886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Crear reportes básicos y un panel de médicos intuitivo.</a:t>
            </a:r>
            <a:endParaRPr lang="es-419" sz="185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47675" y="487620"/>
            <a:ext cx="705314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Alcances</a:t>
            </a:r>
            <a:endParaRPr lang="es-419" sz="3500" noProof="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72" y="1269237"/>
            <a:ext cx="957501" cy="11489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05991" y="302523"/>
            <a:ext cx="12352421" cy="6402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endParaRPr lang="es-419" sz="2800" dirty="0">
              <a:solidFill>
                <a:srgbClr val="272525"/>
              </a:solidFill>
              <a:latin typeface="Source Serif 4 Semi Bold" pitchFamily="34" charset="0"/>
              <a:ea typeface="Source Serif 4 Semi Bold" pitchFamily="34" charset="-122"/>
              <a:cs typeface="Source Serif 4 Semi Bold" pitchFamily="34" charset="-12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28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Perfiles con vistas simples: Paciente, Médico y Admin.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28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Paciente: reservar, reagendar, confirmar o cancelar su hora; ver detalles.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28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Médico: ver su agenda y actualizar el estado de cada atención.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28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Admin: gestionar citas, doctores y sucursales; asignar doctor–sucursal.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28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Triage orientativo: sugerencia inicial por síntomas para decidir entre Medicina General o especialista.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28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Recordatorios para reducir ausencias y errores.</a:t>
            </a:r>
            <a:endParaRPr lang="es-419" sz="2800" noProof="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71" y="2527355"/>
            <a:ext cx="957501" cy="1148953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673" y="3765929"/>
            <a:ext cx="957501" cy="1148953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670" y="5024047"/>
            <a:ext cx="957501" cy="11489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2508" y="333294"/>
            <a:ext cx="590311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Metodología y Equipo</a:t>
            </a:r>
            <a:endParaRPr lang="es-419" sz="4400" noProof="0" dirty="0"/>
          </a:p>
        </p:txBody>
      </p:sp>
      <p:sp>
        <p:nvSpPr>
          <p:cNvPr id="3" name="Shape 1"/>
          <p:cNvSpPr/>
          <p:nvPr/>
        </p:nvSpPr>
        <p:spPr>
          <a:xfrm>
            <a:off x="552955" y="1708861"/>
            <a:ext cx="6357818" cy="3964293"/>
          </a:xfrm>
          <a:prstGeom prst="roundRect">
            <a:avLst>
              <a:gd name="adj" fmla="val 4275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09" y="1607931"/>
            <a:ext cx="6357818" cy="121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2815471"/>
            <a:ext cx="718066" cy="7180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8869" y="2247810"/>
            <a:ext cx="6075697" cy="3733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419" sz="2400" b="1" dirty="0">
                <a:solidFill>
                  <a:srgbClr val="272525"/>
                </a:solidFill>
                <a:latin typeface="Source Sans 3" pitchFamily="34" charset="0"/>
              </a:rPr>
              <a:t>Usaremos un enfoque Tradicional por Fases</a:t>
            </a:r>
          </a:p>
          <a:p>
            <a:r>
              <a:rPr lang="es-419" sz="2400" b="1" dirty="0">
                <a:solidFill>
                  <a:srgbClr val="272525"/>
                </a:solidFill>
                <a:latin typeface="Source Sans 3" pitchFamily="34" charset="0"/>
              </a:rPr>
              <a:t> </a:t>
            </a:r>
            <a:r>
              <a:rPr lang="es-419" sz="1850" b="1" dirty="0">
                <a:solidFill>
                  <a:srgbClr val="272525"/>
                </a:solidFill>
                <a:latin typeface="Source Sans 3" pitchFamily="34" charset="0"/>
              </a:rPr>
              <a:t>(Cascada/Stage-Gate), avanzando de forma secuencial por</a:t>
            </a:r>
          </a:p>
          <a:p>
            <a:endParaRPr lang="es-419" sz="1850" b="1" dirty="0">
              <a:solidFill>
                <a:srgbClr val="272525"/>
              </a:solidFill>
              <a:latin typeface="Source Sans 3" pitchFamily="34" charset="0"/>
            </a:endParaRPr>
          </a:p>
          <a:p>
            <a:r>
              <a:rPr lang="es-419" sz="1850" b="1" dirty="0">
                <a:solidFill>
                  <a:srgbClr val="272525"/>
                </a:solidFill>
                <a:latin typeface="Source Sans 3" pitchFamily="34" charset="0"/>
              </a:rPr>
              <a:t> Fase 1 → Fase 2 → Fase 3, con una revisión y aprobación (Gate) al final de cada etapa.</a:t>
            </a:r>
          </a:p>
          <a:p>
            <a:r>
              <a:rPr lang="es-419" sz="1850" b="1" dirty="0">
                <a:solidFill>
                  <a:srgbClr val="272525"/>
                </a:solidFill>
                <a:latin typeface="Source Sans 3" pitchFamily="34" charset="0"/>
              </a:rPr>
              <a:t> En Fase 1 (Semanas 1–2) definimos el problema, la solución, los alcances (qué incluye/excluye), riesgos, cronograma y los criterios de salida para asegurar claridad antes de construir.</a:t>
            </a:r>
          </a:p>
        </p:txBody>
      </p:sp>
      <p:sp>
        <p:nvSpPr>
          <p:cNvPr id="9" name="Shape 4"/>
          <p:cNvSpPr/>
          <p:nvPr/>
        </p:nvSpPr>
        <p:spPr>
          <a:xfrm>
            <a:off x="7465337" y="1893002"/>
            <a:ext cx="6345613" cy="4523840"/>
          </a:xfrm>
          <a:prstGeom prst="roundRect">
            <a:avLst>
              <a:gd name="adj" fmla="val 4275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603700"/>
            <a:ext cx="6357818" cy="12192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675" y="2815471"/>
            <a:ext cx="718066" cy="718066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0059" y="2995017"/>
            <a:ext cx="287179" cy="358973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704653" y="4268391"/>
            <a:ext cx="581822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s-419" sz="1850" noProof="0" dirty="0"/>
          </a:p>
        </p:txBody>
      </p:sp>
      <p:sp>
        <p:nvSpPr>
          <p:cNvPr id="15" name="Text 7"/>
          <p:cNvSpPr/>
          <p:nvPr/>
        </p:nvSpPr>
        <p:spPr>
          <a:xfrm>
            <a:off x="7614695" y="2093005"/>
            <a:ext cx="6058323" cy="412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 Fase 2 (Semanas 3–11) diseñamos y construimos lo comprometido: inicio de sesión y registro, vistas simples por perfil (Paciente, Médico, Admin), reservar/confirmar/cancelar y reagendar citas, sugerencia por síntomas (</a:t>
            </a:r>
            <a:r>
              <a:rPr lang="es-419" sz="1850" b="1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triage</a:t>
            </a:r>
            <a:r>
              <a:rPr lang="es-419" sz="185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orientativo) y gestión de doctores y sucursales, dejando evidencias y pruebas básicas.</a:t>
            </a:r>
          </a:p>
          <a:p>
            <a:pPr marL="0" indent="0" algn="l">
              <a:lnSpc>
                <a:spcPts val="3000"/>
              </a:lnSpc>
              <a:buNone/>
            </a:pPr>
            <a:endParaRPr lang="es-419" sz="1850" b="1" noProof="0" dirty="0">
              <a:solidFill>
                <a:srgbClr val="272525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ts val="3000"/>
              </a:lnSpc>
              <a:buNone/>
            </a:pPr>
            <a:r>
              <a:rPr lang="es-419" sz="185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 Fase 3 (Semanas 12–14 + 15 buffer) cerramos con documentación final, PPT y demo, manteniendo reuniones semanales, actas y control de cambios para cuidar foco, calidad y fechas.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7409" y="405095"/>
            <a:ext cx="615100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Cronograma Detallado</a:t>
            </a:r>
            <a:endParaRPr lang="es-419" sz="4400" noProof="0" dirty="0"/>
          </a:p>
        </p:txBody>
      </p:sp>
      <p:sp>
        <p:nvSpPr>
          <p:cNvPr id="10" name="Shape 8"/>
          <p:cNvSpPr/>
          <p:nvPr/>
        </p:nvSpPr>
        <p:spPr>
          <a:xfrm>
            <a:off x="845344" y="3677960"/>
            <a:ext cx="12939713" cy="6854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0DBEA00C-B57F-5373-0E33-43301C412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567005"/>
              </p:ext>
            </p:extLst>
          </p:nvPr>
        </p:nvGraphicFramePr>
        <p:xfrm>
          <a:off x="1798819" y="1199212"/>
          <a:ext cx="10538085" cy="50536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65522">
                  <a:extLst>
                    <a:ext uri="{9D8B030D-6E8A-4147-A177-3AD203B41FA5}">
                      <a16:colId xmlns:a16="http://schemas.microsoft.com/office/drawing/2014/main" val="750545529"/>
                    </a:ext>
                  </a:extLst>
                </a:gridCol>
                <a:gridCol w="2168157">
                  <a:extLst>
                    <a:ext uri="{9D8B030D-6E8A-4147-A177-3AD203B41FA5}">
                      <a16:colId xmlns:a16="http://schemas.microsoft.com/office/drawing/2014/main" val="3219625123"/>
                    </a:ext>
                  </a:extLst>
                </a:gridCol>
                <a:gridCol w="3104406">
                  <a:extLst>
                    <a:ext uri="{9D8B030D-6E8A-4147-A177-3AD203B41FA5}">
                      <a16:colId xmlns:a16="http://schemas.microsoft.com/office/drawing/2014/main" val="3213484307"/>
                    </a:ext>
                  </a:extLst>
                </a:gridCol>
              </a:tblGrid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 dirty="0">
                          <a:effectLst/>
                        </a:rPr>
                        <a:t>Actividad</a:t>
                      </a:r>
                      <a:endParaRPr lang="es-419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Responsable</a:t>
                      </a:r>
                      <a:endParaRPr lang="es-419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asociadas</a:t>
                      </a:r>
                      <a:endParaRPr lang="es-419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352861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Levantamiento de requerimientos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 1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74444475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Análisis de factibilidad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 2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077108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Diseño base de datos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Raúl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3, 4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70016872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Diseño de arquitectura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4, 5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66124480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Desarrollo backend (API REST .NET)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5, 6, 7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40110590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Desarrollo frontend (UI prototipo)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Raúl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6, 7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87164607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Integración frontend-backend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8, 9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64256197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Pruebas unitarias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9, 10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87335839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Pruebas de integración (E2E)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 dirty="0">
                          <a:effectLst/>
                        </a:rPr>
                        <a:t>Semanas 10, 11</a:t>
                      </a:r>
                      <a:endParaRPr lang="es-419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40619728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Ajustes y correcciones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Ambos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11, 12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40794129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 dirty="0">
                          <a:effectLst/>
                        </a:rPr>
                        <a:t>Pruebas finales + despliegue simulado</a:t>
                      </a:r>
                      <a:endParaRPr lang="es-419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Ambos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13, 14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824652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 dirty="0">
                          <a:effectLst/>
                        </a:rPr>
                        <a:t>Semanas buffer</a:t>
                      </a:r>
                      <a:endParaRPr lang="es-419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Ambos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 dirty="0">
                          <a:effectLst/>
                        </a:rPr>
                        <a:t>Semana 15</a:t>
                      </a:r>
                      <a:endParaRPr lang="es-419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352439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723900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Tecnologías que Impulsan MediTriage</a:t>
            </a:r>
            <a:endParaRPr lang="es-419" sz="4400" noProof="0" dirty="0"/>
          </a:p>
        </p:txBody>
      </p:sp>
      <p:sp>
        <p:nvSpPr>
          <p:cNvPr id="4" name="Text 1"/>
          <p:cNvSpPr/>
          <p:nvPr/>
        </p:nvSpPr>
        <p:spPr>
          <a:xfrm>
            <a:off x="5866924" y="2107883"/>
            <a:ext cx="8463673" cy="5132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Backend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.NET 8 Web API (C#), </a:t>
            </a: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Entity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Framework Core, SQL Server</a:t>
            </a:r>
          </a:p>
          <a:p>
            <a:pPr marL="342900" indent="-34290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Frontend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</a:t>
            </a: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+ Vite + </a:t>
            </a: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TypeScript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+ </a:t>
            </a: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Tailwind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CSS</a:t>
            </a:r>
          </a:p>
          <a:p>
            <a:pPr marL="342900" indent="-34290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IA: </a:t>
            </a: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OpenAI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API (modelo GPT‑4o o GPT‑5, a definir en configuración)</a:t>
            </a:r>
          </a:p>
          <a:p>
            <a:pPr marL="342900" indent="-34290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Autenticación: JWT con roles (Paciente, Médico, Administrador)</a:t>
            </a:r>
          </a:p>
          <a:p>
            <a:pPr marL="342900" indent="-34290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Observabilidad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logs estructurados y métricas básicas</a:t>
            </a:r>
            <a:r>
              <a:rPr lang="es-419" sz="2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s-419" sz="2400" noProof="0" dirty="0">
              <a:solidFill>
                <a:srgbClr val="272525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B9498-13B9-10A3-57B0-29D3E01FB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051A928-6668-6D0D-9DB4-D4A73795EBEB}"/>
              </a:ext>
            </a:extLst>
          </p:cNvPr>
          <p:cNvSpPr/>
          <p:nvPr/>
        </p:nvSpPr>
        <p:spPr>
          <a:xfrm>
            <a:off x="1735343" y="159868"/>
            <a:ext cx="5063353" cy="50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Diagrama de Base de Datos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DFB58816-F6C4-926D-2896-3426C29EB3E1}"/>
              </a:ext>
            </a:extLst>
          </p:cNvPr>
          <p:cNvSpPr/>
          <p:nvPr/>
        </p:nvSpPr>
        <p:spPr>
          <a:xfrm>
            <a:off x="773495" y="1332548"/>
            <a:ext cx="12287250" cy="5057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spAutoFit/>
          </a:bodyPr>
          <a:lstStyle/>
          <a:p>
            <a:pPr marL="246063" lvl="1" defTabSz="404813">
              <a:lnSpc>
                <a:spcPct val="150000"/>
              </a:lnSpc>
              <a:tabLst>
                <a:tab pos="16225838" algn="l"/>
                <a:tab pos="16592550" algn="l"/>
                <a:tab pos="17124363" algn="l"/>
              </a:tabLst>
            </a:pPr>
            <a:endParaRPr lang="es-419" sz="2400" noProof="0" dirty="0">
              <a:solidFill>
                <a:srgbClr val="272525"/>
              </a:solidFill>
              <a:latin typeface="Source Serif 4 Semi Bold" pitchFamily="34" charset="0"/>
              <a:ea typeface="Source Serif 4 Semi Bold" pitchFamily="34" charset="-122"/>
              <a:cs typeface="Source Serif 4 Semi Bold" pitchFamily="34" charset="-120"/>
            </a:endParaRPr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7272997C-A0C4-D862-48CF-718F21BA2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65" y="826005"/>
            <a:ext cx="14045669" cy="7259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798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5641D-FD28-2D5E-8E9C-C5812F15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930754E-D2D9-D3A8-AA93-3CD490AF549A}"/>
              </a:ext>
            </a:extLst>
          </p:cNvPr>
          <p:cNvSpPr/>
          <p:nvPr/>
        </p:nvSpPr>
        <p:spPr>
          <a:xfrm>
            <a:off x="2170837" y="974548"/>
            <a:ext cx="705314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66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Demostración</a:t>
            </a:r>
            <a:endParaRPr lang="es-419" sz="6600" noProof="0" dirty="0">
              <a:solidFill>
                <a:srgbClr val="D73AD7"/>
              </a:solidFill>
              <a:latin typeface="Source Serif 4 Semi Bold" pitchFamily="34" charset="0"/>
              <a:ea typeface="Source Serif 4 Semi Bold" pitchFamily="34" charset="-122"/>
              <a:cs typeface="Source Serif 4 Semi Bold" pitchFamily="34" charset="-120"/>
            </a:endParaRPr>
          </a:p>
        </p:txBody>
      </p:sp>
      <p:pic>
        <p:nvPicPr>
          <p:cNvPr id="4" name="Imagen 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BD2C4A9-D667-3763-BA45-4D3A43DDD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952" y="1922106"/>
            <a:ext cx="10298832" cy="5793093"/>
          </a:xfrm>
          <a:prstGeom prst="rect">
            <a:avLst/>
          </a:prstGeom>
        </p:spPr>
      </p:pic>
      <p:pic>
        <p:nvPicPr>
          <p:cNvPr id="6" name="Imagen 5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F856BF9B-E519-8190-24C4-A1183D617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222" y="4904757"/>
            <a:ext cx="2463282" cy="2463282"/>
          </a:xfrm>
          <a:prstGeom prst="rect">
            <a:avLst/>
          </a:prstGeom>
        </p:spPr>
      </p:pic>
      <p:pic>
        <p:nvPicPr>
          <p:cNvPr id="10" name="Imagen 9" descr="Logotipo&#10;&#10;El contenido generado por IA puede ser incorrecto.">
            <a:extLst>
              <a:ext uri="{FF2B5EF4-FFF2-40B4-BE49-F238E27FC236}">
                <a16:creationId xmlns:a16="http://schemas.microsoft.com/office/drawing/2014/main" id="{1D3C5F3F-28EE-B530-6799-17FB9EA845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2578" y="1612169"/>
            <a:ext cx="4938882" cy="3292588"/>
          </a:xfrm>
          <a:prstGeom prst="rect">
            <a:avLst/>
          </a:prstGeom>
        </p:spPr>
      </p:pic>
      <p:pic>
        <p:nvPicPr>
          <p:cNvPr id="12" name="Imagen 11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A65AC1A0-3251-0905-1D1E-30131E3FEF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19725" y="213934"/>
            <a:ext cx="1553204" cy="15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813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8109B-050E-2634-39EF-DDBFC4510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6DFDB25-EAE8-3B38-8B86-489676011915}"/>
              </a:ext>
            </a:extLst>
          </p:cNvPr>
          <p:cNvSpPr/>
          <p:nvPr/>
        </p:nvSpPr>
        <p:spPr>
          <a:xfrm>
            <a:off x="837724" y="769263"/>
            <a:ext cx="705314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Expansión Futura de MediTriage</a:t>
            </a:r>
            <a:endParaRPr lang="es-419" sz="3500" noProof="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C7F3E229-80EE-0FD7-3068-39278C594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174" y="1487568"/>
            <a:ext cx="957501" cy="1148953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03E14DEC-502C-1EA8-B6B8-CFBC8A61BEA7}"/>
              </a:ext>
            </a:extLst>
          </p:cNvPr>
          <p:cNvSpPr/>
          <p:nvPr/>
        </p:nvSpPr>
        <p:spPr>
          <a:xfrm>
            <a:off x="2539127" y="1679020"/>
            <a:ext cx="4789773" cy="3122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s-419" sz="28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Integración de Derivaciones</a:t>
            </a:r>
            <a:endParaRPr lang="es-419" sz="2800" noProof="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0610DFC-B53D-BDA5-861B-81EC400747BE}"/>
              </a:ext>
            </a:extLst>
          </p:cNvPr>
          <p:cNvSpPr/>
          <p:nvPr/>
        </p:nvSpPr>
        <p:spPr>
          <a:xfrm>
            <a:off x="2539127" y="2075498"/>
            <a:ext cx="11791690" cy="323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Conexión con sistemas de </a:t>
            </a:r>
            <a:r>
              <a:rPr lang="es-419" sz="240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FONASA e ISAPRE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para simplificar las derivaciones y coordinaciones.</a:t>
            </a:r>
            <a:endParaRPr lang="es-419" sz="2400" noProof="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784E68EC-528D-5031-C529-F41CED1FE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0174" y="2636521"/>
            <a:ext cx="957501" cy="1148953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00783617-51D9-3DE7-0262-2CB93876FB1A}"/>
              </a:ext>
            </a:extLst>
          </p:cNvPr>
          <p:cNvSpPr/>
          <p:nvPr/>
        </p:nvSpPr>
        <p:spPr>
          <a:xfrm>
            <a:off x="2539127" y="2827973"/>
            <a:ext cx="3395160" cy="3122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s-419" sz="28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Agenda Compartida</a:t>
            </a:r>
            <a:endParaRPr lang="es-419" sz="2800" noProof="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777C02E-D9A6-2EE1-3E01-950C7240A49B}"/>
              </a:ext>
            </a:extLst>
          </p:cNvPr>
          <p:cNvSpPr/>
          <p:nvPr/>
        </p:nvSpPr>
        <p:spPr>
          <a:xfrm>
            <a:off x="2539127" y="3224451"/>
            <a:ext cx="11791690" cy="630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Funcionalidad que permitirá a médicos y centros de salud </a:t>
            </a:r>
            <a:r>
              <a:rPr lang="es-419" sz="240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compartir sus agendas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forma sincronizada.</a:t>
            </a:r>
            <a:endParaRPr lang="es-419" sz="2400" noProof="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E8315E01-07D8-DF6D-1C7D-9814A9E069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0174" y="3785474"/>
            <a:ext cx="957501" cy="1148953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A92B2F54-D453-1B13-A24D-BFB18366091D}"/>
              </a:ext>
            </a:extLst>
          </p:cNvPr>
          <p:cNvSpPr/>
          <p:nvPr/>
        </p:nvSpPr>
        <p:spPr>
          <a:xfrm>
            <a:off x="2539127" y="3976926"/>
            <a:ext cx="2306722" cy="3122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s-419" sz="28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Telemedicina</a:t>
            </a:r>
            <a:endParaRPr lang="es-419" sz="2800" noProof="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2B46D8-BB57-1F63-F72C-7AAE6E6F8CED}"/>
              </a:ext>
            </a:extLst>
          </p:cNvPr>
          <p:cNvSpPr/>
          <p:nvPr/>
        </p:nvSpPr>
        <p:spPr>
          <a:xfrm>
            <a:off x="2539127" y="4373405"/>
            <a:ext cx="11123238" cy="323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Incorporación de un módulo de </a:t>
            </a:r>
            <a:r>
              <a:rPr lang="es-419" sz="240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video consultas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para ofrecer atención remota y accesible.</a:t>
            </a:r>
            <a:endParaRPr lang="es-419" sz="2400" noProof="0" dirty="0"/>
          </a:p>
        </p:txBody>
      </p:sp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CE2D4B68-1A6E-2ED7-C358-84B6BBCCA4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0174" y="4934427"/>
            <a:ext cx="957501" cy="1148953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DE4EAC81-200B-FD42-3130-002ADBE86A93}"/>
              </a:ext>
            </a:extLst>
          </p:cNvPr>
          <p:cNvSpPr/>
          <p:nvPr/>
        </p:nvSpPr>
        <p:spPr>
          <a:xfrm>
            <a:off x="2539127" y="5125880"/>
            <a:ext cx="3880871" cy="3122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s-419" sz="28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Análisis de Tendencias</a:t>
            </a:r>
            <a:endParaRPr lang="es-419" sz="2800" noProof="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F8AEC275-8154-ED8A-4A1F-691A12F5EB1F}"/>
              </a:ext>
            </a:extLst>
          </p:cNvPr>
          <p:cNvSpPr/>
          <p:nvPr/>
        </p:nvSpPr>
        <p:spPr>
          <a:xfrm>
            <a:off x="2539127" y="5522358"/>
            <a:ext cx="10929223" cy="630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Implementación de herramientas para </a:t>
            </a:r>
            <a:r>
              <a:rPr lang="es-419" sz="240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análisis estadístico de síntomas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 tendencias epidemiológicas.</a:t>
            </a:r>
            <a:endParaRPr lang="es-419" sz="2400" noProof="0" dirty="0"/>
          </a:p>
        </p:txBody>
      </p:sp>
    </p:spTree>
    <p:extLst>
      <p:ext uri="{BB962C8B-B14F-4D97-AF65-F5344CB8AC3E}">
        <p14:creationId xmlns:p14="http://schemas.microsoft.com/office/powerpoint/2010/main" val="846220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662A8-C1F9-6215-387A-BD1CCC3B2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825BE7-B418-866E-472E-39AF67EC79D7}"/>
              </a:ext>
            </a:extLst>
          </p:cNvPr>
          <p:cNvSpPr/>
          <p:nvPr/>
        </p:nvSpPr>
        <p:spPr>
          <a:xfrm>
            <a:off x="1207001" y="1332548"/>
            <a:ext cx="705314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Resultados o Evidencia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8D53FDA0-E47E-8BAF-F8E1-88C88B3DAEE1}"/>
              </a:ext>
            </a:extLst>
          </p:cNvPr>
          <p:cNvSpPr/>
          <p:nvPr/>
        </p:nvSpPr>
        <p:spPr>
          <a:xfrm>
            <a:off x="773495" y="1332548"/>
            <a:ext cx="12287250" cy="41019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spAutoFit/>
          </a:bodyPr>
          <a:lstStyle/>
          <a:p>
            <a:pPr marL="246063" lvl="1" defTabSz="404813">
              <a:lnSpc>
                <a:spcPct val="150000"/>
              </a:lnSpc>
              <a:tabLst>
                <a:tab pos="16225838" algn="l"/>
                <a:tab pos="16592550" algn="l"/>
                <a:tab pos="17124363" algn="l"/>
              </a:tabLst>
            </a:pPr>
            <a:endParaRPr lang="es-419" sz="2400" noProof="0" dirty="0">
              <a:solidFill>
                <a:srgbClr val="272525"/>
              </a:solidFill>
              <a:latin typeface="Source Serif 4 Semi Bold" pitchFamily="34" charset="0"/>
              <a:ea typeface="Source Serif 4 Semi Bold" pitchFamily="34" charset="-122"/>
              <a:cs typeface="Source Serif 4 Semi Bold" pitchFamily="34" charset="-120"/>
            </a:endParaRPr>
          </a:p>
          <a:p>
            <a:pPr marL="531813" lvl="1" indent="-285750" defTabSz="404813">
              <a:lnSpc>
                <a:spcPct val="2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 MVP funcional(MediTriage).</a:t>
            </a:r>
          </a:p>
          <a:p>
            <a:pPr marL="531813" lvl="1" indent="-285750" defTabSz="404813">
              <a:lnSpc>
                <a:spcPct val="2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Informe de avance (acta, requerimientos, prototipo inicial).</a:t>
            </a:r>
          </a:p>
          <a:p>
            <a:pPr marL="531813" lvl="1" indent="-285750" defTabSz="404813">
              <a:lnSpc>
                <a:spcPct val="2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🧑‍🤝‍🧑 Documentación técnica y de usuario.</a:t>
            </a:r>
          </a:p>
          <a:p>
            <a:pPr marL="531813" lvl="1" indent="-285750" defTabSz="404813">
              <a:lnSpc>
                <a:spcPct val="2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🧪 Presentación final y demo.</a:t>
            </a:r>
          </a:p>
        </p:txBody>
      </p:sp>
    </p:spTree>
    <p:extLst>
      <p:ext uri="{BB962C8B-B14F-4D97-AF65-F5344CB8AC3E}">
        <p14:creationId xmlns:p14="http://schemas.microsoft.com/office/powerpoint/2010/main" val="3712999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E05A1-467B-E147-803A-3F1D75F3D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335EEC-D967-5FCC-CE17-A17656B9F5A4}"/>
              </a:ext>
            </a:extLst>
          </p:cNvPr>
          <p:cNvSpPr/>
          <p:nvPr/>
        </p:nvSpPr>
        <p:spPr>
          <a:xfrm>
            <a:off x="1207001" y="1332548"/>
            <a:ext cx="705314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Conclusión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1F9EC8B4-251E-EF19-7625-0ED1713E6B6E}"/>
              </a:ext>
            </a:extLst>
          </p:cNvPr>
          <p:cNvSpPr/>
          <p:nvPr/>
        </p:nvSpPr>
        <p:spPr>
          <a:xfrm>
            <a:off x="773495" y="2261019"/>
            <a:ext cx="12287250" cy="43797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spAutoFit/>
          </a:bodyPr>
          <a:lstStyle/>
          <a:p>
            <a:pPr marL="531813" lvl="1" indent="-285750" defTabSz="404813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✅ MediTriage responde a un problema real en salud, optimizando tiempos y mejorando la experiencia del paciente.</a:t>
            </a:r>
          </a:p>
          <a:p>
            <a:pPr marL="531813" lvl="1" indent="-285750" defTabSz="404813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🤖 Integra IA y reglas de seguridad para decisiones innovadoras en salud.</a:t>
            </a:r>
          </a:p>
          <a:p>
            <a:pPr marL="531813" lvl="1" indent="-285750" defTabSz="404813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📊 Evidencia preliminar confirma viabilidad técnica y utilidad percibida.</a:t>
            </a:r>
          </a:p>
          <a:p>
            <a:pPr marL="531813" lvl="1" indent="-285750" defTabSz="404813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🎓 Aporta valor académico y profesional en IA aplicada, desarrollo ágil y soluciones críticas en salud.</a:t>
            </a:r>
          </a:p>
          <a:p>
            <a:pPr marL="531813" lvl="1" indent="-285750" defTabSz="404813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🌐 Proyección: telemedicina, integraciones nacionales y análisis de tendencias epidemiológicas</a:t>
            </a:r>
            <a:endParaRPr lang="es-419" sz="2400" noProof="0" dirty="0"/>
          </a:p>
        </p:txBody>
      </p:sp>
    </p:spTree>
    <p:extLst>
      <p:ext uri="{BB962C8B-B14F-4D97-AF65-F5344CB8AC3E}">
        <p14:creationId xmlns:p14="http://schemas.microsoft.com/office/powerpoint/2010/main" val="2795812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6BD5C-45C9-F1FE-5B2B-29665E983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B898BD-CD4C-C20E-DD22-C201D3AA7B0E}"/>
              </a:ext>
            </a:extLst>
          </p:cNvPr>
          <p:cNvSpPr/>
          <p:nvPr/>
        </p:nvSpPr>
        <p:spPr>
          <a:xfrm>
            <a:off x="2637986" y="3057993"/>
            <a:ext cx="8604918" cy="185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s-419" sz="80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¿Preguntas?</a:t>
            </a:r>
          </a:p>
        </p:txBody>
      </p:sp>
    </p:spTree>
    <p:extLst>
      <p:ext uri="{BB962C8B-B14F-4D97-AF65-F5344CB8AC3E}">
        <p14:creationId xmlns:p14="http://schemas.microsoft.com/office/powerpoint/2010/main" val="2588198695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TM10001114[[fn=Galería]]</Template>
  <TotalTime>947</TotalTime>
  <Words>922</Words>
  <Application>Microsoft Office PowerPoint</Application>
  <PresentationFormat>Personalizado</PresentationFormat>
  <Paragraphs>132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Gill Sans MT</vt:lpstr>
      <vt:lpstr>Source Sans 3</vt:lpstr>
      <vt:lpstr>Arial</vt:lpstr>
      <vt:lpstr>Aptos Narrow</vt:lpstr>
      <vt:lpstr>Source Serif 4 Semi Bold</vt:lpstr>
      <vt:lpstr>Galería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Raul Enrique Benavides Villar</cp:lastModifiedBy>
  <cp:revision>9</cp:revision>
  <dcterms:created xsi:type="dcterms:W3CDTF">2025-09-01T01:21:58Z</dcterms:created>
  <dcterms:modified xsi:type="dcterms:W3CDTF">2025-10-28T03:48:00Z</dcterms:modified>
</cp:coreProperties>
</file>