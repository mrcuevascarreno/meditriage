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  <p:sldId id="278" r:id="rId11"/>
    <p:sldId id="270" r:id="rId12"/>
    <p:sldId id="280" r:id="rId13"/>
    <p:sldId id="282" r:id="rId14"/>
    <p:sldId id="269" r:id="rId15"/>
    <p:sldId id="274" r:id="rId16"/>
  </p:sldIdLst>
  <p:sldSz cx="14630400" cy="8229600"/>
  <p:notesSz cx="8229600" cy="146304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Gill Sans MT" panose="020B0502020104020203" pitchFamily="34" charset="0"/>
      <p:regular r:id="rId22"/>
      <p:bold r:id="rId23"/>
      <p:italic r:id="rId24"/>
      <p:boldItalic r:id="rId25"/>
    </p:embeddedFont>
    <p:embeddedFont>
      <p:font typeface="Source Sans 3" panose="020B0604020202020204" charset="0"/>
      <p:regular r:id="rId26"/>
    </p:embeddedFont>
    <p:embeddedFont>
      <p:font typeface="Source Serif 4 Semi Bold" panose="020B0604020202020204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3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9077-8BD8-E8F5-525A-57DB78E1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5D433-7BCD-5991-DA02-7827CA24E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EACBA-F05D-8ACF-A19C-E6829AB0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EF734-1648-DF2F-61DD-EB4297CD7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2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E7A7-B918-69BF-9879-FCA16BD9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38C74-7FE6-F75C-E4C8-FF69D3680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20593-E417-C270-198E-0234F3221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F4EB-CF2D-4769-6321-4B0E1943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54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F86E-F4B1-9B0E-FD89-4FF5415A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14310-F383-DEA7-6F3E-A56CFF8E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75235-733D-FB16-1943-9B0DE0689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C16BB-1996-0963-56AE-6415A9EF9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41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E5AD-A486-62ED-AB6C-ECD1210E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1FADD-28A9-32F8-11FF-AB30DE8F0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4E8A1-3D16-9BF0-2131-127076B3D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89FD4-D5B3-A0E2-7547-6247F5B1B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26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5C90-D3FD-4CEC-FFD0-A8CF4E9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54381-8F59-9FBD-8013-4409B8A6C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534A1-9AA0-D0B7-8541-6E268D25F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600FD-0FAD-A198-FACD-214CBE307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33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3B39-1B24-EA80-035C-F03DBB7D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8FB31-F90F-A214-8D93-CBFDE06C0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86B29-ECD3-A788-E401-352BDB02F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D256B-DA5E-15EA-579A-1FFD24CF2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89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504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478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3236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3209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6823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177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606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387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006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73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84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5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647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632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842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93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4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901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4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87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6" r:id="rId19"/>
    <p:sldLayoutId id="2147483747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0"/>
            <a:ext cx="4663440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 – Plataforma de Citas Médicas con Triage IA</a:t>
            </a:r>
            <a:endParaRPr lang="es-419" sz="4400" noProof="0" dirty="0"/>
          </a:p>
        </p:txBody>
      </p:sp>
      <p:sp>
        <p:nvSpPr>
          <p:cNvPr id="5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Bienvenida a la presentación de MediTriage, un proyecto innovador en la gestión de citas médicas.</a:t>
            </a:r>
            <a:endParaRPr lang="es-419" sz="185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1114AA-578E-C3BD-AD7C-3C23BC62B4EA}"/>
              </a:ext>
            </a:extLst>
          </p:cNvPr>
          <p:cNvSpPr/>
          <p:nvPr/>
        </p:nvSpPr>
        <p:spPr>
          <a:xfrm>
            <a:off x="11405939" y="6099114"/>
            <a:ext cx="3224461" cy="124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Docente: Alex Zúñiga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Integrantes</a:t>
            </a: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: Matías cuevas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Raúl Benavides</a:t>
            </a:r>
            <a:endParaRPr lang="es-419" sz="1850" noProof="0" dirty="0">
              <a:solidFill>
                <a:srgbClr val="272525"/>
              </a:solidFill>
              <a:latin typeface="Source Sans 3" pitchFamily="34" charset="0"/>
            </a:endParaRPr>
          </a:p>
          <a:p>
            <a:pPr marL="0" indent="0" algn="ctr">
              <a:lnSpc>
                <a:spcPts val="3000"/>
              </a:lnSpc>
              <a:buNone/>
            </a:pPr>
            <a:endParaRPr lang="es-419" sz="18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54054"/>
            <a:ext cx="5278279" cy="5278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2798" y="588764"/>
            <a:ext cx="4088130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s-419" sz="315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Contexto y Problema</a:t>
            </a:r>
            <a:endParaRPr lang="es-419" sz="3150" noProof="0" dirty="0"/>
          </a:p>
        </p:txBody>
      </p:sp>
      <p:sp>
        <p:nvSpPr>
          <p:cNvPr id="5" name="Text 2"/>
          <p:cNvSpPr/>
          <p:nvPr/>
        </p:nvSpPr>
        <p:spPr>
          <a:xfrm>
            <a:off x="6895780" y="1831232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419" sz="200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Sobrecarga y mala orientación</a:t>
            </a: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agendas médicas: un problema generalizado que afecta a pacientes y profesionales.</a:t>
            </a:r>
            <a:endParaRPr lang="es-419" sz="2000" noProof="0" dirty="0"/>
          </a:p>
        </p:txBody>
      </p:sp>
      <p:sp>
        <p:nvSpPr>
          <p:cNvPr id="6" name="Text 3"/>
          <p:cNvSpPr/>
          <p:nvPr/>
        </p:nvSpPr>
        <p:spPr>
          <a:xfrm>
            <a:off x="6895780" y="3645396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Pacientes que reservan citas en especialidades incorrectas, retrasando diagnósticos.</a:t>
            </a:r>
            <a:endParaRPr lang="es-419" sz="2000" noProof="0" dirty="0"/>
          </a:p>
        </p:txBody>
      </p:sp>
      <p:sp>
        <p:nvSpPr>
          <p:cNvPr id="7" name="Text 4"/>
          <p:cNvSpPr/>
          <p:nvPr/>
        </p:nvSpPr>
        <p:spPr>
          <a:xfrm>
            <a:off x="6895780" y="4641414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Ineficiencia en la gestión de recursos médicos, generando esperas innecesarias.</a:t>
            </a:r>
            <a:endParaRPr lang="es-419" sz="2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36621"/>
            <a:ext cx="635936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Impacto y Oportunidad</a:t>
            </a:r>
            <a:endParaRPr lang="es-419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838926"/>
            <a:ext cx="51780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Relevancia del Proyecto</a:t>
            </a:r>
            <a:endParaRPr lang="es-419" sz="350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364152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asignación de citas médicas, dirigiendo a cada paciente al especialista adecuado.</a:t>
            </a:r>
            <a:endParaRPr lang="es-419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837724" y="449127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Mejora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experiencia del paciente, reduciendo tiempos de espera y frustraciones.</a:t>
            </a:r>
            <a:endParaRPr lang="es-419" sz="1850" noProof="0" dirty="0"/>
          </a:p>
        </p:txBody>
      </p:sp>
      <p:sp>
        <p:nvSpPr>
          <p:cNvPr id="6" name="Text 4"/>
          <p:cNvSpPr/>
          <p:nvPr/>
        </p:nvSpPr>
        <p:spPr>
          <a:xfrm>
            <a:off x="837724" y="5341025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Aporta valor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 campo de la informática aplicando IA en un entorno crítico como la salud, abriendo nuevas vías de eficiencia.</a:t>
            </a:r>
            <a:endParaRPr lang="es-419" sz="185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761" y="2868811"/>
            <a:ext cx="6185535" cy="3554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72133"/>
            <a:ext cx="96222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MediTriage: La Solución Inteligente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204323"/>
            <a:ext cx="4997053" cy="3266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641038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¿Qué es MediTriage?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0" y="244363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</a:t>
            </a: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web integral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diseñada para optimizar el agendamiento y la gestión de citas médicas mediante: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3425071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Cuestionario dinámico de síntomas para una evaluación inicial.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315200" y="4274820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Motor de reglas para detectar "banderas rojas" y casos de urgencia.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315200" y="512456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Módulo de IA para orientar el nivel de urgencia y la especialidad más adecuada.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315199" y="602527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de médicos para una gestión eficiente y visualización del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previo.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170152"/>
            <a:ext cx="4952167" cy="4952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103" y="783051"/>
            <a:ext cx="5583439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40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Objetivos del Proyecto</a:t>
            </a:r>
            <a:endParaRPr lang="es-419" sz="4000" noProof="0" dirty="0"/>
          </a:p>
        </p:txBody>
      </p:sp>
      <p:sp>
        <p:nvSpPr>
          <p:cNvPr id="5" name="Text 2"/>
          <p:cNvSpPr/>
          <p:nvPr/>
        </p:nvSpPr>
        <p:spPr>
          <a:xfrm>
            <a:off x="6222535" y="142464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 General: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5803709" y="2085161"/>
            <a:ext cx="7988967" cy="1176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Lograr que los pacientes obtengan la atención correcta en el primer intento, reduciendo re-agendamientos y tiempos de espera, con mejor experiencia para pacientes y equipos clínicos.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6222534" y="361983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Objetivos Específicos: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210026" y="4824706"/>
            <a:ext cx="6185535" cy="27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  <a:buSzPct val="100000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s-419" sz="185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4DCBAC-DF4A-7D5C-D47B-4099059443D2}"/>
              </a:ext>
            </a:extLst>
          </p:cNvPr>
          <p:cNvSpPr txBox="1"/>
          <p:nvPr/>
        </p:nvSpPr>
        <p:spPr>
          <a:xfrm>
            <a:off x="5935579" y="4360905"/>
            <a:ext cx="7323220" cy="2191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Disminuir re-agendamientos por elección de especialidad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.Acortar el tiempo desde la solicitud hasta la atención.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Reducir ausencias (no-show)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Aumentar la satisfacción del paciente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Bajar la carga operativa del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7675" y="487620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Alcances</a:t>
            </a:r>
            <a:endParaRPr lang="es-419" sz="35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72" y="1269237"/>
            <a:ext cx="957501" cy="1148953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71" y="2527355"/>
            <a:ext cx="957501" cy="114895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73" y="3765929"/>
            <a:ext cx="957501" cy="1148953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70" y="5024047"/>
            <a:ext cx="957501" cy="11489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BA08B4-2126-A1C1-38CD-C296C5B9F327}"/>
              </a:ext>
            </a:extLst>
          </p:cNvPr>
          <p:cNvSpPr txBox="1"/>
          <p:nvPr/>
        </p:nvSpPr>
        <p:spPr>
          <a:xfrm>
            <a:off x="1684565" y="1199842"/>
            <a:ext cx="9972517" cy="513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Obtención orientación inicial que sugiere especialidad y nivel de urgencia antes de reservar.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Menor tiempo a la cita: reserva en un paso con horarios visibles y opción de próxima atención disponible.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Menos ausencias: confirmaciones y recordatorios previos a la cita.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Mejor experiencia: información clara de lugar, indicaciones y preparación; estado de la cita siempre visible.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Menos carga operativa: cambio de hora guiado desde el mismo lugar (sin llamadas ni correos).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Seguimiento de resultados: registro básico de re-agendamientos, tiempo a cita, ausencias y satisfacción.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2508" y="333294"/>
            <a:ext cx="59031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Metodología y Equipo</a:t>
            </a:r>
            <a:endParaRPr lang="es-419" sz="4400" noProof="0" dirty="0"/>
          </a:p>
        </p:txBody>
      </p:sp>
      <p:sp>
        <p:nvSpPr>
          <p:cNvPr id="3" name="Shape 1"/>
          <p:cNvSpPr/>
          <p:nvPr/>
        </p:nvSpPr>
        <p:spPr>
          <a:xfrm>
            <a:off x="552955" y="1708861"/>
            <a:ext cx="6357818" cy="3964293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09" y="1607931"/>
            <a:ext cx="635781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815471"/>
            <a:ext cx="718066" cy="718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8869" y="2247810"/>
            <a:ext cx="6075697" cy="373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419" sz="2400" b="1" dirty="0">
                <a:solidFill>
                  <a:srgbClr val="272525"/>
                </a:solidFill>
                <a:latin typeface="Source Sans 3" pitchFamily="34" charset="0"/>
              </a:rPr>
              <a:t>Usaremos un enfoque Tradicional por Fases</a:t>
            </a:r>
          </a:p>
          <a:p>
            <a:r>
              <a:rPr lang="es-419" sz="2400" b="1" dirty="0">
                <a:solidFill>
                  <a:srgbClr val="272525"/>
                </a:solidFill>
                <a:latin typeface="Source Sans 3" pitchFamily="34" charset="0"/>
              </a:rPr>
              <a:t> </a:t>
            </a:r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(Cascada/Stage-Gate), avanzando de forma secuencial por</a:t>
            </a:r>
          </a:p>
          <a:p>
            <a:endParaRPr lang="es-419" sz="1850" b="1" dirty="0">
              <a:solidFill>
                <a:srgbClr val="272525"/>
              </a:solidFill>
              <a:latin typeface="Source Sans 3" pitchFamily="34" charset="0"/>
            </a:endParaRPr>
          </a:p>
          <a:p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 Fase 1 → Fase 2 → Fase 3, con una revisión y aprobación (Gate) al final de cada etapa.</a:t>
            </a:r>
          </a:p>
          <a:p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 En Fase 1 (Semanas 1–2) definimos el problema, la solución, los alcances (qué incluye/excluye), riesgos, cronograma y los criterios de salida para asegurar claridad antes de construir.</a:t>
            </a:r>
          </a:p>
        </p:txBody>
      </p:sp>
      <p:sp>
        <p:nvSpPr>
          <p:cNvPr id="9" name="Shape 4"/>
          <p:cNvSpPr/>
          <p:nvPr/>
        </p:nvSpPr>
        <p:spPr>
          <a:xfrm>
            <a:off x="7465337" y="1893002"/>
            <a:ext cx="6345613" cy="4523840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3700"/>
            <a:ext cx="6357818" cy="1219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675" y="2815471"/>
            <a:ext cx="718066" cy="71806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0059" y="2995017"/>
            <a:ext cx="287179" cy="35897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704653" y="4268391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s-419" sz="1850" noProof="0" dirty="0"/>
          </a:p>
        </p:txBody>
      </p:sp>
      <p:sp>
        <p:nvSpPr>
          <p:cNvPr id="15" name="Text 7"/>
          <p:cNvSpPr/>
          <p:nvPr/>
        </p:nvSpPr>
        <p:spPr>
          <a:xfrm>
            <a:off x="7614695" y="2093005"/>
            <a:ext cx="6058323" cy="412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 Fase 2 (Semanas 3–11) diseñamos y construimos lo comprometido: inicio de sesión y registro, vistas simples por perfil (Paciente, Médico, Admin), reservar/confirmar/cancelar y reagendar citas, sugerencia por síntomas (</a:t>
            </a:r>
            <a:r>
              <a:rPr lang="es-419" sz="1850" b="1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</a:t>
            </a: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orientativo) y gestión de doctores y sucursales, dejando evidencias y pruebas básicas.</a:t>
            </a:r>
          </a:p>
          <a:p>
            <a:pPr marL="0" indent="0" algn="l">
              <a:lnSpc>
                <a:spcPts val="3000"/>
              </a:lnSpc>
              <a:buNone/>
            </a:pPr>
            <a:endParaRPr lang="es-419" sz="1850" b="1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Fase 3 (Semanas 12–14 + 15 buffer) cerramos con documentación final, PPT y demo, manteniendo reuniones semanales, actas y control de cambios para cuidar foco, calidad y fechas.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7409" y="405095"/>
            <a:ext cx="61510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Cronograma Detallado</a:t>
            </a:r>
            <a:endParaRPr lang="es-419" sz="4400" noProof="0" dirty="0"/>
          </a:p>
        </p:txBody>
      </p:sp>
      <p:sp>
        <p:nvSpPr>
          <p:cNvPr id="10" name="Shape 8"/>
          <p:cNvSpPr/>
          <p:nvPr/>
        </p:nvSpPr>
        <p:spPr>
          <a:xfrm>
            <a:off x="845344" y="3677960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0DBEA00C-B57F-5373-0E33-43301C412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567005"/>
              </p:ext>
            </p:extLst>
          </p:nvPr>
        </p:nvGraphicFramePr>
        <p:xfrm>
          <a:off x="1798819" y="1199212"/>
          <a:ext cx="10538085" cy="50536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65522">
                  <a:extLst>
                    <a:ext uri="{9D8B030D-6E8A-4147-A177-3AD203B41FA5}">
                      <a16:colId xmlns:a16="http://schemas.microsoft.com/office/drawing/2014/main" val="750545529"/>
                    </a:ext>
                  </a:extLst>
                </a:gridCol>
                <a:gridCol w="2168157">
                  <a:extLst>
                    <a:ext uri="{9D8B030D-6E8A-4147-A177-3AD203B41FA5}">
                      <a16:colId xmlns:a16="http://schemas.microsoft.com/office/drawing/2014/main" val="3219625123"/>
                    </a:ext>
                  </a:extLst>
                </a:gridCol>
                <a:gridCol w="3104406">
                  <a:extLst>
                    <a:ext uri="{9D8B030D-6E8A-4147-A177-3AD203B41FA5}">
                      <a16:colId xmlns:a16="http://schemas.microsoft.com/office/drawing/2014/main" val="3213484307"/>
                    </a:ext>
                  </a:extLst>
                </a:gridCol>
              </a:tblGrid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Actividad</a:t>
                      </a:r>
                      <a:endParaRPr lang="es-419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Responsable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asociadas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352861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Levantamiento de requerimientos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4444475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Análisis de factibilidad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7710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base de datos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3, 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001687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de arquitectura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4, 5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612448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backend (API REST .NET)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5,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011059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frontend (UI prototipo)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716460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Integración frontend-backend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8, 9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25619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unitarias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9, 10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733583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de integración (E2E)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10, 11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061972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Ajustes y correcciones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11, 12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079412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Pruebas finales + despliegue simulado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13, 14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465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buffer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 15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52439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2390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Tecnologías que Impulsan MediTriage</a:t>
            </a:r>
            <a:endParaRPr lang="es-419" sz="4400" noProof="0" dirty="0"/>
          </a:p>
        </p:txBody>
      </p:sp>
      <p:sp>
        <p:nvSpPr>
          <p:cNvPr id="4" name="Text 1"/>
          <p:cNvSpPr/>
          <p:nvPr/>
        </p:nvSpPr>
        <p:spPr>
          <a:xfrm>
            <a:off x="5866924" y="2107883"/>
            <a:ext cx="8463673" cy="513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.NET 8 Web API (C#),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Framework Core, SQL Server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Vite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Tailwind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CSS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IA: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OpenAI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API (modelo GPT‑4o o GPT‑5, a definir en configuración)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Autenticación: JWT con roles (Paciente, Médico, Administrador)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Observabilidad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logs estructurados y métricas básicas</a:t>
            </a:r>
            <a:r>
              <a:rPr lang="es-419" sz="2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s-419" sz="2400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9498-13B9-10A3-57B0-29D3E01F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51A928-6668-6D0D-9DB4-D4A73795EBEB}"/>
              </a:ext>
            </a:extLst>
          </p:cNvPr>
          <p:cNvSpPr/>
          <p:nvPr/>
        </p:nvSpPr>
        <p:spPr>
          <a:xfrm>
            <a:off x="1735343" y="159868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Diagrama de Base de Datos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FB58816-F6C4-926D-2896-3426C29EB3E1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7272997C-A0C4-D862-48CF-718F21BA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65" y="826005"/>
            <a:ext cx="14045669" cy="725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9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641D-FD28-2D5E-8E9C-C5812F15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30754E-D2D9-D3A8-AA93-3CD490AF549A}"/>
              </a:ext>
            </a:extLst>
          </p:cNvPr>
          <p:cNvSpPr/>
          <p:nvPr/>
        </p:nvSpPr>
        <p:spPr>
          <a:xfrm>
            <a:off x="2170837" y="974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6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Demostración</a:t>
            </a:r>
            <a:endParaRPr lang="es-419" sz="6600" noProof="0" dirty="0">
              <a:solidFill>
                <a:srgbClr val="D73AD7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BD2C4A9-D667-3763-BA45-4D3A43DDD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52" y="1922106"/>
            <a:ext cx="10298832" cy="5793093"/>
          </a:xfrm>
          <a:prstGeom prst="rect">
            <a:avLst/>
          </a:prstGeom>
        </p:spPr>
      </p:pic>
      <p:pic>
        <p:nvPicPr>
          <p:cNvPr id="6" name="Imagen 5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F856BF9B-E519-8190-24C4-A1183D617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22" y="4904757"/>
            <a:ext cx="2463282" cy="2463282"/>
          </a:xfrm>
          <a:prstGeom prst="rect">
            <a:avLst/>
          </a:prstGeom>
        </p:spPr>
      </p:pic>
      <p:pic>
        <p:nvPicPr>
          <p:cNvPr id="10" name="Imagen 9" descr="Logotipo&#10;&#10;El contenido generado por IA puede ser incorrecto.">
            <a:extLst>
              <a:ext uri="{FF2B5EF4-FFF2-40B4-BE49-F238E27FC236}">
                <a16:creationId xmlns:a16="http://schemas.microsoft.com/office/drawing/2014/main" id="{1D3C5F3F-28EE-B530-6799-17FB9EA84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2578" y="1612169"/>
            <a:ext cx="4938882" cy="3292588"/>
          </a:xfrm>
          <a:prstGeom prst="rect">
            <a:avLst/>
          </a:prstGeom>
        </p:spPr>
      </p:pic>
      <p:pic>
        <p:nvPicPr>
          <p:cNvPr id="12" name="Imagen 1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A65AC1A0-3251-0905-1D1E-30131E3FEF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9725" y="213934"/>
            <a:ext cx="1553204" cy="15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1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109B-050E-2634-39EF-DDBFC451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DFDB25-EAE8-3B38-8B86-489676011915}"/>
              </a:ext>
            </a:extLst>
          </p:cNvPr>
          <p:cNvSpPr/>
          <p:nvPr/>
        </p:nvSpPr>
        <p:spPr>
          <a:xfrm>
            <a:off x="837724" y="769263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Expansión Futura de MediTriage</a:t>
            </a:r>
            <a:endParaRPr lang="es-419" sz="3500" noProof="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7F3E229-80EE-0FD7-3068-39278C594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74" y="1487568"/>
            <a:ext cx="957501" cy="114895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3E14DEC-502C-1EA8-B6B8-CFBC8A61BEA7}"/>
              </a:ext>
            </a:extLst>
          </p:cNvPr>
          <p:cNvSpPr/>
          <p:nvPr/>
        </p:nvSpPr>
        <p:spPr>
          <a:xfrm>
            <a:off x="2539127" y="1679020"/>
            <a:ext cx="4789773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Integración de Derivaciones</a:t>
            </a:r>
            <a:endParaRPr lang="es-419" sz="2800" noProof="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0610DFC-B53D-BDA5-861B-81EC400747BE}"/>
              </a:ext>
            </a:extLst>
          </p:cNvPr>
          <p:cNvSpPr/>
          <p:nvPr/>
        </p:nvSpPr>
        <p:spPr>
          <a:xfrm>
            <a:off x="2539127" y="2075498"/>
            <a:ext cx="11791690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Conexión con sistemas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FONASA e ISAPRE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simplificar las derivaciones y coordinaciones.</a:t>
            </a:r>
            <a:endParaRPr lang="es-419" sz="2400" noProof="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784E68EC-528D-5031-C529-F41CED1FE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174" y="2636521"/>
            <a:ext cx="957501" cy="1148953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0783617-51D9-3DE7-0262-2CB93876FB1A}"/>
              </a:ext>
            </a:extLst>
          </p:cNvPr>
          <p:cNvSpPr/>
          <p:nvPr/>
        </p:nvSpPr>
        <p:spPr>
          <a:xfrm>
            <a:off x="2539127" y="2827973"/>
            <a:ext cx="3395160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Agenda Compartida</a:t>
            </a:r>
            <a:endParaRPr lang="es-419" sz="2800" noProof="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777C02E-D9A6-2EE1-3E01-950C7240A49B}"/>
              </a:ext>
            </a:extLst>
          </p:cNvPr>
          <p:cNvSpPr/>
          <p:nvPr/>
        </p:nvSpPr>
        <p:spPr>
          <a:xfrm>
            <a:off x="2539127" y="3224451"/>
            <a:ext cx="11791690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Funcionalidad que permitirá a médicos y centros de salud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compartir sus agendas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forma sincronizada.</a:t>
            </a:r>
            <a:endParaRPr lang="es-419" sz="2400" noProof="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E8315E01-07D8-DF6D-1C7D-9814A9E06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174" y="3785474"/>
            <a:ext cx="957501" cy="114895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92B2F54-D453-1B13-A24D-BFB18366091D}"/>
              </a:ext>
            </a:extLst>
          </p:cNvPr>
          <p:cNvSpPr/>
          <p:nvPr/>
        </p:nvSpPr>
        <p:spPr>
          <a:xfrm>
            <a:off x="2539127" y="3976926"/>
            <a:ext cx="2306722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Telemedicina</a:t>
            </a:r>
            <a:endParaRPr lang="es-419" sz="2800" noProof="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2B46D8-BB57-1F63-F72C-7AAE6E6F8CED}"/>
              </a:ext>
            </a:extLst>
          </p:cNvPr>
          <p:cNvSpPr/>
          <p:nvPr/>
        </p:nvSpPr>
        <p:spPr>
          <a:xfrm>
            <a:off x="2539127" y="4373405"/>
            <a:ext cx="11123238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Incorporación de un módulo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consultas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ofrecer atención remota y accesible.</a:t>
            </a:r>
            <a:endParaRPr lang="es-419" sz="2400" noProof="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CE2D4B68-1A6E-2ED7-C358-84B6BBCCA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174" y="4934427"/>
            <a:ext cx="957501" cy="1148953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DE4EAC81-200B-FD42-3130-002ADBE86A93}"/>
              </a:ext>
            </a:extLst>
          </p:cNvPr>
          <p:cNvSpPr/>
          <p:nvPr/>
        </p:nvSpPr>
        <p:spPr>
          <a:xfrm>
            <a:off x="2539127" y="5125880"/>
            <a:ext cx="3880871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Análisis de Tendencias</a:t>
            </a:r>
            <a:endParaRPr lang="es-419" sz="2800" noProof="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8AEC275-8154-ED8A-4A1F-691A12F5EB1F}"/>
              </a:ext>
            </a:extLst>
          </p:cNvPr>
          <p:cNvSpPr/>
          <p:nvPr/>
        </p:nvSpPr>
        <p:spPr>
          <a:xfrm>
            <a:off x="2539127" y="5522358"/>
            <a:ext cx="10929223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herramientas para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análisis estadístico de síntomas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tendencias epidemiológicas.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84622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62A8-C1F9-6215-387A-BD1CCC3B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825BE7-B418-866E-472E-39AF67EC79D7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8D53FDA0-E47E-8BAF-F8E1-88C88B3DAEE1}"/>
              </a:ext>
            </a:extLst>
          </p:cNvPr>
          <p:cNvSpPr/>
          <p:nvPr/>
        </p:nvSpPr>
        <p:spPr>
          <a:xfrm>
            <a:off x="773495" y="1332548"/>
            <a:ext cx="12287250" cy="41019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MVP funcional(MediTriage).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Informe de avance (acta, requerimientos, prototipo inicial).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🧑‍🤝‍🧑 Documentación técnica y de usuario.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🧪 Presentación final y demo.</a:t>
            </a:r>
          </a:p>
        </p:txBody>
      </p:sp>
    </p:spTree>
    <p:extLst>
      <p:ext uri="{BB962C8B-B14F-4D97-AF65-F5344CB8AC3E}">
        <p14:creationId xmlns:p14="http://schemas.microsoft.com/office/powerpoint/2010/main" val="371299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05A1-467B-E147-803A-3F1D75F3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335EEC-D967-5FCC-CE17-A17656B9F5A4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Conclusión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F9EC8B4-251E-EF19-7625-0ED1713E6B6E}"/>
              </a:ext>
            </a:extLst>
          </p:cNvPr>
          <p:cNvSpPr/>
          <p:nvPr/>
        </p:nvSpPr>
        <p:spPr>
          <a:xfrm>
            <a:off x="773495" y="2261019"/>
            <a:ext cx="12287250" cy="43797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✅ MediTriage responde a un problema real en salud, optimizando tiempos y mejorando la experiencia del paciente.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🤖 Integra IA y reglas de seguridad para decisiones innovadoras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📊 Evidencia preliminar confirma viabilidad técnica y utilidad percibida.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🎓 Aporta valor académico y profesional en IA aplicada, desarrollo ágil y soluciones críticas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🌐 Proyección: telemedicina, integraciones nacionales y análisis de tendencias epidemiológicas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279581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BD5C-45C9-F1FE-5B2B-29665E98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B898BD-CD4C-C20E-DD22-C201D3AA7B0E}"/>
              </a:ext>
            </a:extLst>
          </p:cNvPr>
          <p:cNvSpPr/>
          <p:nvPr/>
        </p:nvSpPr>
        <p:spPr>
          <a:xfrm>
            <a:off x="2637986" y="3057993"/>
            <a:ext cx="8604918" cy="185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s-419" sz="80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258819869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1229</TotalTime>
  <Words>944</Words>
  <Application>Microsoft Office PowerPoint</Application>
  <PresentationFormat>Personalizado</PresentationFormat>
  <Paragraphs>132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Gill Sans MT</vt:lpstr>
      <vt:lpstr>Source Sans 3</vt:lpstr>
      <vt:lpstr>Aptos Narrow</vt:lpstr>
      <vt:lpstr>Source Serif 4 Semi Bold</vt:lpstr>
      <vt:lpstr>Arial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Raul Enrique Benavides Villar</cp:lastModifiedBy>
  <cp:revision>10</cp:revision>
  <dcterms:created xsi:type="dcterms:W3CDTF">2025-09-01T01:21:58Z</dcterms:created>
  <dcterms:modified xsi:type="dcterms:W3CDTF">2025-11-06T16:31:36Z</dcterms:modified>
</cp:coreProperties>
</file>