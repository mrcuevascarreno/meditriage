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70" r:id="rId13"/>
    <p:sldId id="269" r:id="rId14"/>
  </p:sldIdLst>
  <p:sldSz cx="14630400" cy="8229600"/>
  <p:notesSz cx="8229600" cy="14630400"/>
  <p:embeddedFontLst>
    <p:embeddedFont>
      <p:font typeface="Gill Sans MT" panose="020B0502020104020203" pitchFamily="34" charset="0"/>
      <p:regular r:id="rId16"/>
      <p:bold r:id="rId17"/>
      <p:italic r:id="rId18"/>
      <p:boldItalic r:id="rId19"/>
    </p:embeddedFont>
    <p:embeddedFont>
      <p:font typeface="Source Sans 3" panose="020B0604020202020204" charset="0"/>
      <p:regular r:id="rId20"/>
    </p:embeddedFont>
    <p:embeddedFont>
      <p:font typeface="Source Serif 4 Semi Bold" panose="020B0604020202020204" charset="0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1" d="100"/>
          <a:sy n="51" d="100"/>
        </p:scale>
        <p:origin x="28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D5DCD-EDC5-5361-1BD1-82930F411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F415CB-8BEB-2D66-FE36-6B16B8A1F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074E-E3C8-A8F0-1B3F-3A56A45990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84372-659C-C73C-09D1-8A6CA6AE1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24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9/1/2025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6697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5" r:id="rId19"/>
    <p:sldLayoutId id="2147483746" r:id="rId20"/>
    <p:sldLayoutId id="2147483747" r:id="rId21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n-US" sz="440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54975"/>
            <a:ext cx="9756458" cy="633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El Desafío Actual en la Gestión Sanitaria</a:t>
            </a:r>
            <a:endParaRPr lang="en-US" sz="3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85591" y="1927146"/>
            <a:ext cx="4088130" cy="50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n-US" sz="315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7585591" y="2649379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Sobrecarga y mala orientación</a:t>
            </a:r>
            <a:r>
              <a:rPr lang="en-US" sz="16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agendas médicas: un problema generalizado que afecta a pacientes y profesionales.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7585591" y="3532346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Pacientes que reservan citas en especialidades incorrectas, retrasando diagnósticos.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7585591" y="4296847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Ineficiencia en la gestión de recursos médicos, generando esperas innecesarias.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n-US" sz="18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n-US" sz="4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14761" y="21744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7614761" y="29770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7614761" y="39584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614761" y="48082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614761" y="56579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7614761" y="650771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triage previo.</a:t>
            </a:r>
            <a:endParaRPr lang="en-US" sz="1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37962"/>
            <a:ext cx="6945035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Hoja de Ruta del Proyecto</a:t>
            </a:r>
            <a:endParaRPr lang="en-US" sz="4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14761" y="2140267"/>
            <a:ext cx="484370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7614761" y="294286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7614761" y="354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Desarrollar una plataforma web para la gestión de citas médicas con triage IA y motor de reglas integrado.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614761" y="452270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614761" y="512111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Implementar autenticación y gestión de usuarios robusta.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7614761" y="5587841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Diseñar un modelo de </a:t>
            </a:r>
            <a:r>
              <a:rPr lang="en-US" sz="185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datos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escalable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agenda y citas.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7614761" y="605456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Integrar un servicio de IA para orientación precisa de urgencia y especialidad.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7614761" y="6904315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Crear reportes básicos y un panel de médicos intuitivo.</a:t>
            </a:r>
            <a:endParaRPr lang="en-US" sz="1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3270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37724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3143964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925" y="2995017"/>
            <a:ext cx="287179" cy="35897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107519" y="3772852"/>
            <a:ext cx="291119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Enfoque Ágil (Scrum)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107519" y="4268391"/>
            <a:ext cx="5818227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Trabajaremos con </a:t>
            </a:r>
            <a:r>
              <a:rPr lang="en-US" sz="185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sprints de dos semanas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garantizando iteraciones rápidas y entregas continuas. Cada sprint incluirá planificación, diseño, desarrollo, pruebas y documentación.</a:t>
            </a:r>
            <a:endParaRPr lang="en-US" sz="1850" dirty="0"/>
          </a:p>
        </p:txBody>
      </p:sp>
      <p:sp>
        <p:nvSpPr>
          <p:cNvPr id="9" name="Shape 4"/>
          <p:cNvSpPr/>
          <p:nvPr/>
        </p:nvSpPr>
        <p:spPr>
          <a:xfrm>
            <a:off x="7434858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858" y="3143964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704653" y="377285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Roles del Equipo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Matías: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Líder técnico, encargado del backend y la documentación crucial del proyecto.</a:t>
            </a:r>
            <a:endParaRPr lang="en-US" sz="1850" dirty="0"/>
          </a:p>
        </p:txBody>
      </p:sp>
      <p:sp>
        <p:nvSpPr>
          <p:cNvPr id="15" name="Text 7"/>
          <p:cNvSpPr/>
          <p:nvPr/>
        </p:nvSpPr>
        <p:spPr>
          <a:xfrm>
            <a:off x="7704653" y="5178028"/>
            <a:ext cx="5818227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Raúl:</a:t>
            </a: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Responsable del frontend, pruebas de calidad y el diseño de la interfaz de usuario para una experiencia óptima.</a:t>
            </a:r>
            <a:endParaRPr lang="en-US" sz="1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116687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37724" y="2299454"/>
            <a:ext cx="12954952" cy="4813340"/>
          </a:xfrm>
          <a:prstGeom prst="roundRect">
            <a:avLst>
              <a:gd name="adj" fmla="val 208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45344" y="2307074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1084659" y="2458283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Levantamiento de requerimientos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558326" y="2458283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1-2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845344" y="2992517"/>
            <a:ext cx="12939713" cy="68544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1084659" y="3143726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Diseño de arquitectura y BBDD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558326" y="3143726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3-4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1084659" y="3829169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Desarrollo backend (API REST .NET)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558326" y="3829169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5-8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845344" y="4363403"/>
            <a:ext cx="12939713" cy="68544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1084659" y="4514612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Desarrollo frontend (UI prototipo)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7558326" y="4514612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6-9</a:t>
            </a:r>
            <a:endParaRPr lang="en-US" sz="1850" dirty="0"/>
          </a:p>
        </p:txBody>
      </p:sp>
      <p:sp>
        <p:nvSpPr>
          <p:cNvPr id="16" name="Shape 14"/>
          <p:cNvSpPr/>
          <p:nvPr/>
        </p:nvSpPr>
        <p:spPr>
          <a:xfrm>
            <a:off x="845344" y="5048845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1084659" y="5200055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Integración frontend-backend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7558326" y="5200055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9-10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845344" y="5734288"/>
            <a:ext cx="12939713" cy="68544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1084659" y="5885498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Pruebas (unidad, integración, E2E)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7558326" y="5885498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Semanas 10-11</a:t>
            </a:r>
            <a:endParaRPr lang="en-US" sz="1850" dirty="0"/>
          </a:p>
        </p:txBody>
      </p:sp>
      <p:sp>
        <p:nvSpPr>
          <p:cNvPr id="22" name="Shape 20"/>
          <p:cNvSpPr/>
          <p:nvPr/>
        </p:nvSpPr>
        <p:spPr>
          <a:xfrm>
            <a:off x="845344" y="6419731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1084659" y="6570940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Preparación y entrega final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7558326" y="6570940"/>
            <a:ext cx="59874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Semana 12</a:t>
            </a:r>
            <a:endParaRPr lang="en-US" sz="1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13061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Avance por Sprints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2313384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Nuestro plan de trabajo se estructura en sprints quincenales, asegurando un desarrollo modular y eficiente.</a:t>
            </a:r>
            <a:endParaRPr lang="en-US" sz="1850" dirty="0"/>
          </a:p>
        </p:txBody>
      </p:sp>
      <p:sp>
        <p:nvSpPr>
          <p:cNvPr id="4" name="Shape 2"/>
          <p:cNvSpPr/>
          <p:nvPr/>
        </p:nvSpPr>
        <p:spPr>
          <a:xfrm>
            <a:off x="837724" y="2965609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108465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1 (Semanas 1-2)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84659" y="3708083"/>
            <a:ext cx="3664863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Planificación inicial, levantamiento de requerimientos y prototipo conceptual.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5235773" y="2965609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548270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2 (Semanas 3-4)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2709" y="3708083"/>
            <a:ext cx="366486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la autenticación de usuarios y módulos de gestión.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9633823" y="2965609"/>
            <a:ext cx="4158853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988075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3 (Semanas 5-6)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880759" y="3708083"/>
            <a:ext cx="3664982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Desarrollo del cuestionario de síntomas y el motor de reglas para el triage.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837724" y="5343406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1084659" y="5590342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4 (Semanas 7-8)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84659" y="6085880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Integración del módulo de IA y diseño del panel médico para una gestión eficaz.</a:t>
            </a:r>
            <a:endParaRPr lang="en-US" sz="1850" dirty="0"/>
          </a:p>
        </p:txBody>
      </p:sp>
      <p:sp>
        <p:nvSpPr>
          <p:cNvPr id="16" name="Shape 14"/>
          <p:cNvSpPr/>
          <p:nvPr/>
        </p:nvSpPr>
        <p:spPr>
          <a:xfrm>
            <a:off x="7434858" y="5343406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7681793" y="5590342"/>
            <a:ext cx="316908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5 (Semanas 9-10)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81793" y="6085880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Fase de pruebas exhaustivas, ajustes finales, documentación y la demo de MediTriage.</a:t>
            </a:r>
            <a:endParaRPr lang="en-US" sz="1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240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Angular / Ionic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una interfaz web responsiva y una experiencia de usuario fluida.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866925" y="2957632"/>
            <a:ext cx="746855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240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Node.js con Express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garantizando un rendimiento robusto y escalabilidad.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866924" y="3807381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 de Datos: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240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PostgreSQL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un almacenamiento de datos seguro y eficiente.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866924" y="465713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 / ML: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Modelo de clasificación de síntomas basado en </a:t>
            </a:r>
            <a:r>
              <a:rPr lang="en-US" sz="240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integrado vía API.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66924" y="5506879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Integraciones: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de reglas de seguridad para la detección de "banderas rojas".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866924" y="6356628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Infraestructura: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240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Google Cloud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(App Engine / Cloud Run) para una implementación fiable y escalable.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n-US" sz="3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n-US" sz="2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n-US" sz="2800" dirty="0"/>
          </a:p>
        </p:txBody>
      </p:sp>
      <p:sp>
        <p:nvSpPr>
          <p:cNvPr id="11" name="Text 6"/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n-US" sz="2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n-US" sz="2800" dirty="0"/>
          </a:p>
        </p:txBody>
      </p:sp>
      <p:sp>
        <p:nvSpPr>
          <p:cNvPr id="14" name="Text 8"/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videoconsultas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n-US" sz="2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n-US" sz="2800" dirty="0"/>
          </a:p>
        </p:txBody>
      </p:sp>
      <p:sp>
        <p:nvSpPr>
          <p:cNvPr id="17" name="Text 10"/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n-US" sz="2400" b="1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n-US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62AD-6B4D-6946-EC61-BB81A583C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9C39F9-3902-4A3D-5739-2B0C2960A57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</a:t>
            </a: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o </a:t>
            </a:r>
            <a:r>
              <a:rPr lang="en-US" sz="350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Evidencia</a:t>
            </a:r>
            <a:endParaRPr lang="en-US" sz="350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8416ECBB-7D91-6674-1561-75786E1A1CA6}"/>
              </a:ext>
            </a:extLst>
          </p:cNvPr>
          <p:cNvSpPr/>
          <p:nvPr/>
        </p:nvSpPr>
        <p:spPr>
          <a:xfrm>
            <a:off x="773495" y="2261019"/>
            <a:ext cx="12287250" cy="382970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endParaRPr lang="es-419" sz="240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⚙️ MVP funcional desarrollado (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Frontend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Angular/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Ionic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, 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Backend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Node.js, BD PostgreSQL).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Validación inicial: simulación de 5 casos, 80% de acierto en orientación.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Encuesta a 10 usuarios: 90% considera útil la orientación previa a la cita.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Pruebas técnicas: autenticación y gestión de usuarios verificadas; cuestionario dinámico en pruebas.</a:t>
            </a:r>
          </a:p>
        </p:txBody>
      </p:sp>
    </p:spTree>
    <p:extLst>
      <p:ext uri="{BB962C8B-B14F-4D97-AF65-F5344CB8AC3E}">
        <p14:creationId xmlns:p14="http://schemas.microsoft.com/office/powerpoint/2010/main" val="3324267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</a:t>
            </a:r>
            <a:r>
              <a:rPr lang="en-US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o </a:t>
            </a:r>
            <a:r>
              <a:rPr lang="en-US" sz="350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Evidencia</a:t>
            </a:r>
            <a:endParaRPr lang="en-US" sz="350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B92BF13B-1E8D-0B1A-8482-0103EA05672E}"/>
              </a:ext>
            </a:extLst>
          </p:cNvPr>
          <p:cNvSpPr/>
          <p:nvPr/>
        </p:nvSpPr>
        <p:spPr>
          <a:xfrm>
            <a:off x="773495" y="2261019"/>
            <a:ext cx="12287250" cy="382970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endParaRPr lang="es-419" sz="240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⚙️ MVP funcional desarrollado (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Frontend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Angular/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Ionic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, 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Backend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Node.js, BD PostgreSQL).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Validación inicial: simulación de 5 casos, 80% de acierto en orientación.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Encuesta a 10 usuarios: 90% considera útil la orientación previa a la cita.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Pruebas técnicas: autenticación y gestión de usuarios verificadas; cuestionario dinámico en pruebas.</a:t>
            </a:r>
          </a:p>
        </p:txBody>
      </p:sp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  <a:endParaRPr lang="en-US" sz="350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</a:t>
            </a:r>
            <a:r>
              <a:rPr lang="es-419" sz="24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28</TotalTime>
  <Words>923</Words>
  <Application>Microsoft Office PowerPoint</Application>
  <PresentationFormat>Personalizado</PresentationFormat>
  <Paragraphs>108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Gill Sans MT</vt:lpstr>
      <vt:lpstr>Source Serif 4 Semi Bold</vt:lpstr>
      <vt:lpstr>Source Sans 3</vt:lpstr>
      <vt:lpstr>Arial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2</cp:revision>
  <dcterms:created xsi:type="dcterms:W3CDTF">2025-09-01T01:21:58Z</dcterms:created>
  <dcterms:modified xsi:type="dcterms:W3CDTF">2025-09-01T05:14:05Z</dcterms:modified>
</cp:coreProperties>
</file>