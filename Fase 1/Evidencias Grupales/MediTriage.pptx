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  <p:sldId id="276" r:id="rId14"/>
    <p:sldId id="273" r:id="rId15"/>
    <p:sldId id="277" r:id="rId16"/>
    <p:sldId id="275" r:id="rId17"/>
    <p:sldId id="278" r:id="rId18"/>
    <p:sldId id="279" r:id="rId19"/>
    <p:sldId id="269" r:id="rId20"/>
    <p:sldId id="274" r:id="rId21"/>
  </p:sldIdLst>
  <p:sldSz cx="14630400" cy="8229600"/>
  <p:notesSz cx="8229600" cy="14630400"/>
  <p:embeddedFontLst>
    <p:embeddedFont>
      <p:font typeface="Aptos Narrow" panose="020B0004020202020204" pitchFamily="34" charset="0"/>
      <p:regular r:id="rId23"/>
      <p:bold r:id="rId24"/>
      <p:italic r:id="rId25"/>
      <p:boldItalic r:id="rId26"/>
    </p:embeddedFont>
    <p:embeddedFont>
      <p:font typeface="Gill Sans MT" panose="020B0502020104020203" pitchFamily="34" charset="0"/>
      <p:regular r:id="rId27"/>
      <p:bold r:id="rId28"/>
      <p:italic r:id="rId29"/>
      <p:boldItalic r:id="rId30"/>
    </p:embeddedFont>
    <p:embeddedFont>
      <p:font typeface="Source Sans 3" panose="020B0604020202020204" charset="0"/>
      <p:regular r:id="rId31"/>
    </p:embeddedFont>
    <p:embeddedFont>
      <p:font typeface="Source Serif 4 Semi Bold" panose="020B0604020202020204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3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23FC-9869-C4D8-C28D-74E9A56A5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08E3F-C1C2-96FF-FBF9-193618DCC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4DB80F-194C-74CA-580F-344D60FC2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CA20B-D460-B49D-B980-9236970C2E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072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28315-DA0B-CC79-1307-DA205E77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4199A-FED6-68AD-46E4-EAA4B1A12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5347C5-AC63-9791-441C-6A555B2C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A820E-26D1-DF9F-C36A-9698FA229F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902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CF9F-B496-1049-8236-E1F216F58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ADA388-15E8-4827-EE54-6D499F794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5183C-F598-EA00-085C-CC8812B4C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FE232-92A2-DAB2-7FEC-63C49F4E3A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210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8C35-FC1D-F62D-E47B-2EA2C5AF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AFAFD1-C1C1-AAC0-014D-5A77EDD91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2E5E9-E2CF-4AE5-2938-D14DCE967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6E94-95C7-5319-E05F-D32F609EE6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60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D6645-C247-C52E-7832-714573EAA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B7F29-35E4-6619-B327-F95E19634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3F7619-012B-A313-5B4D-AB5C319E1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759EB-CF44-764B-1745-562FAC929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24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9077-8BD8-E8F5-525A-57DB78E1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D433-7BCD-5991-DA02-7827CA24E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EACBA-F05D-8ACF-A19C-E6829AB0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EF734-1648-DF2F-61DD-EB4297CD7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46B0-2ECC-4849-23B3-21B4C3FA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2EE48-4DE6-724B-6210-6BEA42237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C43D7-1E6C-8B09-F58F-F9E18CCCC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9E442-9FAA-88D5-88E3-2EE9128A2D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628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3B39-1B24-EA80-035C-F03DBB7D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FB31-F90F-A214-8D93-CBFDE06C0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6B29-ECD3-A788-E401-352BDB02F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256B-DA5E-15EA-579A-1FFD24CF2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6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9/11/2025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6697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5" r:id="rId19"/>
    <p:sldLayoutId id="2147483746" r:id="rId20"/>
    <p:sldLayoutId id="2147483747" r:id="rId21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s-419" sz="4400" noProof="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s-419" sz="185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1114AA-578E-C3BD-AD7C-3C23BC62B4EA}"/>
              </a:ext>
            </a:extLst>
          </p:cNvPr>
          <p:cNvSpPr/>
          <p:nvPr/>
        </p:nvSpPr>
        <p:spPr>
          <a:xfrm>
            <a:off x="11405939" y="6099114"/>
            <a:ext cx="3224461" cy="1248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Docente: Alex Zúñiga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Integrantes</a:t>
            </a: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: Matías cuevas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Raúl Benavides</a:t>
            </a:r>
            <a:endParaRPr lang="es-419" sz="1850" noProof="0" dirty="0">
              <a:solidFill>
                <a:srgbClr val="272525"/>
              </a:solidFill>
              <a:latin typeface="Source Sans 3" pitchFamily="34" charset="0"/>
            </a:endParaRPr>
          </a:p>
          <a:p>
            <a:pPr marL="0" indent="0" algn="ctr">
              <a:lnSpc>
                <a:spcPts val="3000"/>
              </a:lnSpc>
              <a:buNone/>
            </a:pPr>
            <a:endParaRPr lang="es-419" sz="18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54975"/>
            <a:ext cx="9756458" cy="633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s-419" sz="39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El Desafío Actual en la Gestión Sanitaria</a:t>
            </a:r>
            <a:endParaRPr lang="es-419" sz="395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85591" y="1927146"/>
            <a:ext cx="4088130" cy="50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s-419" sz="31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s-419" sz="3150" noProof="0" dirty="0"/>
          </a:p>
        </p:txBody>
      </p:sp>
      <p:sp>
        <p:nvSpPr>
          <p:cNvPr id="5" name="Text 2"/>
          <p:cNvSpPr/>
          <p:nvPr/>
        </p:nvSpPr>
        <p:spPr>
          <a:xfrm>
            <a:off x="7585591" y="2649379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s-419" sz="16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Sobrecarga y mala orientación</a:t>
            </a:r>
            <a:r>
              <a:rPr lang="es-419" sz="16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agendas médicas: un problema generalizado que afecta a pacientes y profesionales.</a:t>
            </a:r>
            <a:endParaRPr lang="es-419" sz="1650" noProof="0" dirty="0"/>
          </a:p>
        </p:txBody>
      </p:sp>
      <p:sp>
        <p:nvSpPr>
          <p:cNvPr id="6" name="Text 3"/>
          <p:cNvSpPr/>
          <p:nvPr/>
        </p:nvSpPr>
        <p:spPr>
          <a:xfrm>
            <a:off x="7585591" y="3532346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16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Pacientes que reservan citas en especialidades incorrectas, retrasando diagnósticos.</a:t>
            </a:r>
            <a:endParaRPr lang="es-419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7585591" y="4296847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16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Ineficiencia en la gestión de recursos médicos, generando esperas innecesarias.</a:t>
            </a:r>
            <a:endParaRPr lang="es-419" sz="16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s-419" sz="3500" noProof="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s-419" sz="1850" noProof="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s-419" sz="1850" noProof="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s-419" sz="185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6410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315200" y="24436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315200" y="34250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315200" y="42748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315200" y="51245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315199" y="602527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triage previo.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37962"/>
            <a:ext cx="6945035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Hoja de Ruta del Proyecto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10026" y="1843858"/>
            <a:ext cx="484370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210026" y="264645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210026" y="324486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Desarrollar una plataforma web para la gestión de citas médicas con triage IA y motor de reglas integrado.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210026" y="422629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210026" y="48247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Implementar autenticación y gestión de usuarios robusta.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210026" y="52914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Diseñar un modelo de datos escalable para agenda y citas.</a:t>
            </a:r>
            <a:endParaRPr lang="es-419" sz="1850" noProof="0" dirty="0"/>
          </a:p>
        </p:txBody>
      </p:sp>
      <p:sp>
        <p:nvSpPr>
          <p:cNvPr id="10" name="Text 7"/>
          <p:cNvSpPr/>
          <p:nvPr/>
        </p:nvSpPr>
        <p:spPr>
          <a:xfrm>
            <a:off x="7210026" y="57581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Integrar un servicio de IA para orientación precisa de urgencia y especialidad.</a:t>
            </a:r>
            <a:endParaRPr lang="es-419" sz="1850" noProof="0" dirty="0"/>
          </a:p>
        </p:txBody>
      </p:sp>
      <p:sp>
        <p:nvSpPr>
          <p:cNvPr id="11" name="Text 8"/>
          <p:cNvSpPr/>
          <p:nvPr/>
        </p:nvSpPr>
        <p:spPr>
          <a:xfrm>
            <a:off x="7202406" y="644288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Crear reportes básicos y un panel de médicos intuitivo.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3270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s-419" sz="4400" noProof="0" dirty="0"/>
          </a:p>
        </p:txBody>
      </p:sp>
      <p:sp>
        <p:nvSpPr>
          <p:cNvPr id="3" name="Shape 1"/>
          <p:cNvSpPr/>
          <p:nvPr/>
        </p:nvSpPr>
        <p:spPr>
          <a:xfrm>
            <a:off x="837724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3143964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925" y="2995017"/>
            <a:ext cx="287179" cy="35897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107519" y="3772852"/>
            <a:ext cx="291119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Enfoque Ágil (Scrum)</a:t>
            </a:r>
            <a:endParaRPr lang="es-419" sz="2200" noProof="0" dirty="0"/>
          </a:p>
        </p:txBody>
      </p:sp>
      <p:sp>
        <p:nvSpPr>
          <p:cNvPr id="8" name="Text 3"/>
          <p:cNvSpPr/>
          <p:nvPr/>
        </p:nvSpPr>
        <p:spPr>
          <a:xfrm>
            <a:off x="1107519" y="4268391"/>
            <a:ext cx="5818227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Trabajaremos con </a:t>
            </a:r>
            <a:r>
              <a:rPr lang="es-419" sz="1850" b="1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sprints</a:t>
            </a: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2 semanas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garantizando iteraciones rápidas y entregas continuas. Cada sprint incluirá planificación, diseño, desarrollo, pruebas y documentación.</a:t>
            </a:r>
            <a:endParaRPr lang="es-419" sz="1850" noProof="0" dirty="0"/>
          </a:p>
        </p:txBody>
      </p:sp>
      <p:sp>
        <p:nvSpPr>
          <p:cNvPr id="9" name="Shape 4"/>
          <p:cNvSpPr/>
          <p:nvPr/>
        </p:nvSpPr>
        <p:spPr>
          <a:xfrm>
            <a:off x="7434858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858" y="3143964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704653" y="377285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Roles del Equipo</a:t>
            </a:r>
            <a:endParaRPr lang="es-419" sz="2200" noProof="0" dirty="0"/>
          </a:p>
        </p:txBody>
      </p:sp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Matías: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Líder técnico, encargado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la documentación crucial del proyecto.</a:t>
            </a:r>
            <a:endParaRPr lang="es-419" sz="1850" noProof="0" dirty="0"/>
          </a:p>
        </p:txBody>
      </p:sp>
      <p:sp>
        <p:nvSpPr>
          <p:cNvPr id="15" name="Text 7"/>
          <p:cNvSpPr/>
          <p:nvPr/>
        </p:nvSpPr>
        <p:spPr>
          <a:xfrm>
            <a:off x="7704653" y="5178028"/>
            <a:ext cx="5818227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Raúl: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Responsable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pruebas de calidad y el diseño de la interfaz de usuario para una experiencia óptima.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7409" y="405095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s-419" sz="4400" noProof="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0DBEA00C-B57F-5373-0E33-43301C412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752228"/>
              </p:ext>
            </p:extLst>
          </p:nvPr>
        </p:nvGraphicFramePr>
        <p:xfrm>
          <a:off x="1798819" y="1199212"/>
          <a:ext cx="10538085" cy="58311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522">
                  <a:extLst>
                    <a:ext uri="{9D8B030D-6E8A-4147-A177-3AD203B41FA5}">
                      <a16:colId xmlns:a16="http://schemas.microsoft.com/office/drawing/2014/main" val="750545529"/>
                    </a:ext>
                  </a:extLst>
                </a:gridCol>
                <a:gridCol w="2168157">
                  <a:extLst>
                    <a:ext uri="{9D8B030D-6E8A-4147-A177-3AD203B41FA5}">
                      <a16:colId xmlns:a16="http://schemas.microsoft.com/office/drawing/2014/main" val="3219625123"/>
                    </a:ext>
                  </a:extLst>
                </a:gridCol>
                <a:gridCol w="3104406">
                  <a:extLst>
                    <a:ext uri="{9D8B030D-6E8A-4147-A177-3AD203B41FA5}">
                      <a16:colId xmlns:a16="http://schemas.microsoft.com/office/drawing/2014/main" val="3213484307"/>
                    </a:ext>
                  </a:extLst>
                </a:gridCol>
              </a:tblGrid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Actividad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Responsable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asociadas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352861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Levantamiento de requerimientos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4444475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Análisis de factibilidad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07710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base de datos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3, 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001687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de arquitectura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4, 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6612448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backend (API REST .NET)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5,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011059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frontend (UI prototipo)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16460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Integración frontend-backend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8, 9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25619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unitarias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9, 10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733583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de integración (E2E)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10, 11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061972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Ajustes y correcciones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11, 12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079412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Pruebas finales + despliegue simulado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13, 14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2465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Preparación presentación final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 13,14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5243974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Entrega final + exposición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 15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612201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buffer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15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47149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7385" y="28586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Avance por </a:t>
            </a:r>
            <a:r>
              <a:rPr lang="es-419" sz="44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Sprints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674132" y="898858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Nuestro plan de trabajo se estructura en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sprints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quincenales, asegurando un desarrollo modular y eficiente.</a:t>
            </a:r>
            <a:endParaRPr lang="es-419" sz="1850" noProof="0" dirty="0"/>
          </a:p>
        </p:txBody>
      </p:sp>
      <p:sp>
        <p:nvSpPr>
          <p:cNvPr id="4" name="Shape 2"/>
          <p:cNvSpPr/>
          <p:nvPr/>
        </p:nvSpPr>
        <p:spPr>
          <a:xfrm>
            <a:off x="427197" y="1476136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Text 3"/>
          <p:cNvSpPr/>
          <p:nvPr/>
        </p:nvSpPr>
        <p:spPr>
          <a:xfrm>
            <a:off x="1001493" y="1576621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1 (Semanas 1-2)</a:t>
            </a:r>
            <a:endParaRPr lang="es-419" sz="2200" noProof="0" dirty="0"/>
          </a:p>
        </p:txBody>
      </p:sp>
      <p:sp>
        <p:nvSpPr>
          <p:cNvPr id="6" name="Text 4"/>
          <p:cNvSpPr/>
          <p:nvPr/>
        </p:nvSpPr>
        <p:spPr>
          <a:xfrm>
            <a:off x="674132" y="1991251"/>
            <a:ext cx="3664863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Planificación inicial, levantamiento de requerimientos y prototipo conceptual.</a:t>
            </a:r>
            <a:endParaRPr lang="es-419" sz="1850" noProof="0" dirty="0"/>
          </a:p>
        </p:txBody>
      </p:sp>
      <p:sp>
        <p:nvSpPr>
          <p:cNvPr id="7" name="Shape 5"/>
          <p:cNvSpPr/>
          <p:nvPr/>
        </p:nvSpPr>
        <p:spPr>
          <a:xfrm>
            <a:off x="4663017" y="1429259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Text 6"/>
          <p:cNvSpPr/>
          <p:nvPr/>
        </p:nvSpPr>
        <p:spPr>
          <a:xfrm>
            <a:off x="4909953" y="167619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2 (Semanas 3-4)</a:t>
            </a:r>
            <a:endParaRPr lang="es-419" sz="2200" noProof="0" dirty="0"/>
          </a:p>
        </p:txBody>
      </p:sp>
      <p:sp>
        <p:nvSpPr>
          <p:cNvPr id="9" name="Text 7"/>
          <p:cNvSpPr/>
          <p:nvPr/>
        </p:nvSpPr>
        <p:spPr>
          <a:xfrm>
            <a:off x="4909953" y="2171733"/>
            <a:ext cx="366486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la autenticación de usuarios y módulos de gestión.</a:t>
            </a:r>
            <a:endParaRPr lang="es-419" sz="1850" noProof="0" dirty="0"/>
          </a:p>
        </p:txBody>
      </p:sp>
      <p:sp>
        <p:nvSpPr>
          <p:cNvPr id="10" name="Shape 8"/>
          <p:cNvSpPr/>
          <p:nvPr/>
        </p:nvSpPr>
        <p:spPr>
          <a:xfrm>
            <a:off x="9061067" y="1429259"/>
            <a:ext cx="4158853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Text 9"/>
          <p:cNvSpPr/>
          <p:nvPr/>
        </p:nvSpPr>
        <p:spPr>
          <a:xfrm>
            <a:off x="9308003" y="167619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3 (Semanas 5-6)</a:t>
            </a:r>
            <a:endParaRPr lang="es-419" sz="2200" noProof="0" dirty="0"/>
          </a:p>
        </p:txBody>
      </p:sp>
      <p:sp>
        <p:nvSpPr>
          <p:cNvPr id="12" name="Text 10"/>
          <p:cNvSpPr/>
          <p:nvPr/>
        </p:nvSpPr>
        <p:spPr>
          <a:xfrm>
            <a:off x="9308003" y="2171733"/>
            <a:ext cx="3664982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Desarrollo del cuestionario de síntomas y el motor de reglas para el triage.</a:t>
            </a:r>
            <a:endParaRPr lang="es-419" sz="1850" noProof="0" dirty="0"/>
          </a:p>
        </p:txBody>
      </p:sp>
      <p:sp>
        <p:nvSpPr>
          <p:cNvPr id="13" name="Shape 11"/>
          <p:cNvSpPr/>
          <p:nvPr/>
        </p:nvSpPr>
        <p:spPr>
          <a:xfrm>
            <a:off x="366344" y="3694999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613279" y="3941935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4 (Semanas 7-8)</a:t>
            </a:r>
            <a:endParaRPr lang="es-419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613279" y="4437473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Integración del módulo de IA y diseño del panel médico para una gestión eficaz.</a:t>
            </a:r>
            <a:endParaRPr lang="es-419" sz="1850" noProof="0" dirty="0"/>
          </a:p>
        </p:txBody>
      </p:sp>
      <p:sp>
        <p:nvSpPr>
          <p:cNvPr id="16" name="Shape 14"/>
          <p:cNvSpPr/>
          <p:nvPr/>
        </p:nvSpPr>
        <p:spPr>
          <a:xfrm>
            <a:off x="6963478" y="3694999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Text 15"/>
          <p:cNvSpPr/>
          <p:nvPr/>
        </p:nvSpPr>
        <p:spPr>
          <a:xfrm>
            <a:off x="7210413" y="3941935"/>
            <a:ext cx="316908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5 (Semanas 9-10)</a:t>
            </a:r>
            <a:endParaRPr lang="es-419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7210413" y="4373180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Pruebas iniciales, ajustes a módulos críticos, documentación preliminar.</a:t>
            </a:r>
            <a:endParaRPr lang="es-419" sz="1850" noProof="0" dirty="0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D644982-357E-C6AC-C8A9-ADEE2EAD86BD}"/>
              </a:ext>
            </a:extLst>
          </p:cNvPr>
          <p:cNvSpPr/>
          <p:nvPr/>
        </p:nvSpPr>
        <p:spPr>
          <a:xfrm>
            <a:off x="427197" y="5791550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E9CA09F7-3C05-D062-D9FD-B184EBF938A8}"/>
              </a:ext>
            </a:extLst>
          </p:cNvPr>
          <p:cNvSpPr/>
          <p:nvPr/>
        </p:nvSpPr>
        <p:spPr>
          <a:xfrm>
            <a:off x="1001493" y="5892035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6 (Semanas </a:t>
            </a:r>
            <a:r>
              <a:rPr lang="es-419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11-12</a:t>
            </a: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)</a:t>
            </a:r>
            <a:endParaRPr lang="es-419" sz="2200" noProof="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0E7A348C-EB32-C00F-43AA-04EFD44D96F8}"/>
              </a:ext>
            </a:extLst>
          </p:cNvPr>
          <p:cNvSpPr/>
          <p:nvPr/>
        </p:nvSpPr>
        <p:spPr>
          <a:xfrm>
            <a:off x="674132" y="6306665"/>
            <a:ext cx="3664863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Optimización y mejoras UX/UI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1850" noProof="0" dirty="0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EFD16B74-AD11-8620-AFBA-557F7EEC9788}"/>
              </a:ext>
            </a:extLst>
          </p:cNvPr>
          <p:cNvSpPr/>
          <p:nvPr/>
        </p:nvSpPr>
        <p:spPr>
          <a:xfrm>
            <a:off x="4663017" y="5744673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D17B3E04-4AF8-B1DA-3433-AE2F122156B8}"/>
              </a:ext>
            </a:extLst>
          </p:cNvPr>
          <p:cNvSpPr/>
          <p:nvPr/>
        </p:nvSpPr>
        <p:spPr>
          <a:xfrm>
            <a:off x="4909953" y="5991608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6 (Semanas </a:t>
            </a:r>
            <a:r>
              <a:rPr lang="es-419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13-14</a:t>
            </a: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)</a:t>
            </a:r>
            <a:endParaRPr lang="es-419" sz="2200" noProof="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EEAFFABD-C7F3-2097-966E-9BD994465AB6}"/>
              </a:ext>
            </a:extLst>
          </p:cNvPr>
          <p:cNvSpPr/>
          <p:nvPr/>
        </p:nvSpPr>
        <p:spPr>
          <a:xfrm>
            <a:off x="4880162" y="6306665"/>
            <a:ext cx="3886674" cy="1376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Pruebas de carga y seguridad. Corrección de bugs, mejoras de rendimiento. Documentación técnica completa.</a:t>
            </a:r>
            <a:endParaRPr lang="es-419" sz="1850" noProof="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E9D9C1DF-B186-8D4E-BA10-296A9B69CDD5}"/>
              </a:ext>
            </a:extLst>
          </p:cNvPr>
          <p:cNvSpPr/>
          <p:nvPr/>
        </p:nvSpPr>
        <p:spPr>
          <a:xfrm>
            <a:off x="9061067" y="5744673"/>
            <a:ext cx="4158853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058DD391-0FAF-8F1D-7458-9DE65AB45A68}"/>
              </a:ext>
            </a:extLst>
          </p:cNvPr>
          <p:cNvSpPr/>
          <p:nvPr/>
        </p:nvSpPr>
        <p:spPr>
          <a:xfrm>
            <a:off x="9308003" y="5991608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7 (Semanas </a:t>
            </a:r>
            <a:r>
              <a:rPr lang="es-419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15</a:t>
            </a: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)</a:t>
            </a:r>
            <a:endParaRPr lang="es-419" sz="2200" noProof="0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D3FB32E-CCE2-1219-6296-8F612BE0314F}"/>
              </a:ext>
            </a:extLst>
          </p:cNvPr>
          <p:cNvSpPr/>
          <p:nvPr/>
        </p:nvSpPr>
        <p:spPr>
          <a:xfrm>
            <a:off x="9438631" y="6520529"/>
            <a:ext cx="3015139" cy="63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buffer/finalización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s-419" sz="4400" noProof="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8463673" cy="513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.NET 8 Web API (C#),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Entity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Framework Core, SQL Server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Vite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TypeScript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Tailwind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CSS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OpenAI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(modelo GPT‑4o o GPT‑5, a definir en configuración)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Autenticación: JWT con roles (Paciente, Médico, Administrador)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Observabilidad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logs estructurados y métricas básicas</a:t>
            </a:r>
            <a:r>
              <a:rPr lang="es-419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2400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s-419" sz="350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s-419" sz="2800" noProof="0" dirty="0"/>
          </a:p>
        </p:txBody>
      </p:sp>
      <p:sp>
        <p:nvSpPr>
          <p:cNvPr id="8" name="Text 4"/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s-419" sz="2400" noProof="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s-419" sz="2800" noProof="0" dirty="0"/>
          </a:p>
        </p:txBody>
      </p:sp>
      <p:sp>
        <p:nvSpPr>
          <p:cNvPr id="11" name="Text 6"/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s-419" sz="2400" noProof="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s-419" sz="2800" noProof="0" dirty="0"/>
          </a:p>
        </p:txBody>
      </p:sp>
      <p:sp>
        <p:nvSpPr>
          <p:cNvPr id="14" name="Text 8"/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 consultas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s-419" sz="2400" noProof="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s-419" sz="2800" noProof="0" dirty="0"/>
          </a:p>
        </p:txBody>
      </p:sp>
      <p:sp>
        <p:nvSpPr>
          <p:cNvPr id="17" name="Text 10"/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s-419" sz="24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B92BF13B-1E8D-0B1A-8482-0103EA05672E}"/>
              </a:ext>
            </a:extLst>
          </p:cNvPr>
          <p:cNvSpPr/>
          <p:nvPr/>
        </p:nvSpPr>
        <p:spPr>
          <a:xfrm>
            <a:off x="773495" y="1332548"/>
            <a:ext cx="12287250" cy="41019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MVP funcional(MediTriage).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Informe de avance (acta, requerimientos, prototipo inicial).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Documentación técnica y de usuario.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Presentación final y demo.</a:t>
            </a:r>
          </a:p>
        </p:txBody>
      </p:sp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63FC-338F-8BA7-086C-3F0AA6B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0FC1BE-E458-B41F-5631-E73A7F515600}"/>
              </a:ext>
            </a:extLst>
          </p:cNvPr>
          <p:cNvSpPr/>
          <p:nvPr/>
        </p:nvSpPr>
        <p:spPr>
          <a:xfrm>
            <a:off x="213184" y="1628800"/>
            <a:ext cx="5974255" cy="1169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Evidencia</a:t>
            </a:r>
          </a:p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WEB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7005A27-9227-5C76-26CD-4016CD49BA64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27621E45-A967-3D9C-4F7C-49CBADDCC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916" y="372593"/>
            <a:ext cx="7607369" cy="785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65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59EF0-6F5E-3B87-B194-3E67BFB96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FA19D8-2F1D-BBBF-A54E-DA29912FC426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 WEB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66F8D25-D0F9-E138-043A-A58E9BC67563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492F62-6458-342F-12D1-43E00D23C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64" y="1585406"/>
            <a:ext cx="5096586" cy="221963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E40C97D-1713-2F12-8672-27B20E8F5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572" y="5252925"/>
            <a:ext cx="12287250" cy="162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4F858-8FB1-82CF-7120-C6AC96B63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1DE157-D2C1-6BE3-CA10-4561C9D8FC47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Swagger</a:t>
            </a:r>
            <a:endParaRPr lang="es-419" sz="35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0BF5C02-8F93-5EB5-E038-3E7AED091402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7C7926-900C-E19C-5381-8DBBDC47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85406"/>
            <a:ext cx="12801600" cy="649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931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4574-6616-0A11-FE2F-C0B204837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DFADFC-C1D5-F0F5-461A-51B2BF43E272}"/>
              </a:ext>
            </a:extLst>
          </p:cNvPr>
          <p:cNvSpPr/>
          <p:nvPr/>
        </p:nvSpPr>
        <p:spPr>
          <a:xfrm>
            <a:off x="1207001" y="32670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Política de Acceso </a:t>
            </a: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APIs</a:t>
            </a:r>
            <a:endParaRPr lang="es-419" sz="35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B962B88-1A25-1788-196B-8B592E180962}"/>
              </a:ext>
            </a:extLst>
          </p:cNvPr>
          <p:cNvSpPr/>
          <p:nvPr/>
        </p:nvSpPr>
        <p:spPr>
          <a:xfrm>
            <a:off x="5078522" y="3363038"/>
            <a:ext cx="4303693" cy="20774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GET /api/</a:t>
            </a:r>
            <a:r>
              <a:rPr lang="es-CL" sz="1500" dirty="0" err="1"/>
              <a:t>appointments</a:t>
            </a:r>
            <a:r>
              <a:rPr lang="es-CL" sz="1500" dirty="0"/>
              <a:t>/{id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Admin</a:t>
            </a:r>
            <a:r>
              <a:rPr lang="es-CL" sz="1500" dirty="0"/>
              <a:t>: cualquiera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Doctor: solo si es su cita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: solo si es su cita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POST /api/</a:t>
            </a:r>
            <a:r>
              <a:rPr lang="es-CL" sz="1500" dirty="0" err="1"/>
              <a:t>appointments</a:t>
            </a:r>
            <a:endParaRPr lang="es-CL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 o </a:t>
            </a:r>
            <a:r>
              <a:rPr lang="es-CL" sz="1500" dirty="0" err="1"/>
              <a:t>Admin</a:t>
            </a:r>
            <a:r>
              <a:rPr lang="es-CL" sz="1500" dirty="0"/>
              <a:t>. Si es </a:t>
            </a:r>
            <a:r>
              <a:rPr lang="es-CL" sz="1500" dirty="0" err="1"/>
              <a:t>Patient</a:t>
            </a:r>
            <a:r>
              <a:rPr lang="es-CL" sz="1500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solo puede crear para su propio </a:t>
            </a:r>
            <a:r>
              <a:rPr lang="es-CL" sz="1500" dirty="0" err="1"/>
              <a:t>PatientId</a:t>
            </a:r>
            <a:r>
              <a:rPr lang="es-CL" sz="15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PUT /api/</a:t>
            </a:r>
            <a:r>
              <a:rPr lang="es-CL" sz="1500" dirty="0" err="1"/>
              <a:t>appointments</a:t>
            </a:r>
            <a:r>
              <a:rPr lang="es-CL" sz="1500" dirty="0"/>
              <a:t>/{id}/</a:t>
            </a:r>
            <a:r>
              <a:rPr lang="es-CL" sz="1500" dirty="0" err="1"/>
              <a:t>reschedule</a:t>
            </a:r>
            <a:endParaRPr lang="es-CL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 (solo su cita) o </a:t>
            </a:r>
            <a:r>
              <a:rPr lang="es-CL" sz="1500" dirty="0" err="1"/>
              <a:t>Admin</a:t>
            </a:r>
            <a:r>
              <a:rPr lang="es-CL" sz="1500" dirty="0"/>
              <a:t>.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E6C852-7EB9-31C3-EEC4-95F0FF0A6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895" y="2418879"/>
            <a:ext cx="5248185" cy="414073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CL" sz="1500" dirty="0"/>
              <a:t>POST /api/</a:t>
            </a:r>
            <a:r>
              <a:rPr lang="es-CL" sz="1500" dirty="0" err="1"/>
              <a:t>auth</a:t>
            </a:r>
            <a:r>
              <a:rPr lang="es-CL" sz="1500" dirty="0"/>
              <a:t>/</a:t>
            </a:r>
            <a:r>
              <a:rPr lang="es-CL" sz="1500" dirty="0" err="1"/>
              <a:t>register</a:t>
            </a:r>
            <a:r>
              <a:rPr lang="es-CL" sz="1500" dirty="0"/>
              <a:t>, POST /api/</a:t>
            </a:r>
            <a:r>
              <a:rPr lang="es-CL" sz="1500" dirty="0" err="1"/>
              <a:t>auth</a:t>
            </a:r>
            <a:r>
              <a:rPr lang="es-CL" sz="1500" dirty="0"/>
              <a:t>/</a:t>
            </a:r>
            <a:r>
              <a:rPr lang="es-CL" sz="1500" dirty="0" err="1"/>
              <a:t>login</a:t>
            </a:r>
            <a:r>
              <a:rPr lang="es-CL" sz="1500" dirty="0"/>
              <a:t> (ya OK).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GET /api/</a:t>
            </a:r>
            <a:r>
              <a:rPr lang="es-CL" sz="1500" dirty="0" err="1"/>
              <a:t>doctors</a:t>
            </a:r>
            <a:r>
              <a:rPr lang="es-CL" sz="1500" dirty="0"/>
              <a:t>, GET /api/</a:t>
            </a:r>
            <a:r>
              <a:rPr lang="es-CL" sz="1500" dirty="0" err="1"/>
              <a:t>doctors</a:t>
            </a:r>
            <a:r>
              <a:rPr lang="es-CL" sz="1500" dirty="0"/>
              <a:t>/{id} (catálogo visible sin </a:t>
            </a:r>
            <a:r>
              <a:rPr lang="es-CL" sz="1500" dirty="0" err="1"/>
              <a:t>login</a:t>
            </a:r>
            <a:r>
              <a:rPr lang="es-CL" sz="1500" dirty="0"/>
              <a:t>).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Con token (y dueño)</a:t>
            </a:r>
          </a:p>
          <a:p>
            <a:pPr>
              <a:lnSpc>
                <a:spcPct val="100000"/>
              </a:lnSpc>
            </a:pPr>
            <a:r>
              <a:rPr lang="es-CL" sz="1500" dirty="0" err="1"/>
              <a:t>Appointments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/>
              <a:t>GET /api/</a:t>
            </a:r>
            <a:r>
              <a:rPr lang="es-CL" sz="1500" dirty="0" err="1"/>
              <a:t>appointments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 err="1"/>
              <a:t>Admin</a:t>
            </a:r>
            <a:r>
              <a:rPr lang="es-CL" sz="1500" dirty="0"/>
              <a:t>: ve todas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Doctor: solo citas donde </a:t>
            </a:r>
            <a:r>
              <a:rPr lang="es-CL" sz="1500" dirty="0" err="1"/>
              <a:t>Doctor.UserId</a:t>
            </a:r>
            <a:r>
              <a:rPr lang="es-CL" sz="1500" dirty="0"/>
              <a:t> == </a:t>
            </a:r>
            <a:r>
              <a:rPr lang="es-CL" sz="1500" dirty="0" err="1"/>
              <a:t>userId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 err="1"/>
              <a:t>Patient</a:t>
            </a:r>
            <a:r>
              <a:rPr lang="es-CL" sz="1500" dirty="0"/>
              <a:t>: solo citas donde </a:t>
            </a:r>
            <a:r>
              <a:rPr lang="es-CL" sz="1500" dirty="0" err="1"/>
              <a:t>Patient.UserId</a:t>
            </a:r>
            <a:r>
              <a:rPr lang="es-CL" sz="1500" dirty="0"/>
              <a:t> == </a:t>
            </a:r>
            <a:r>
              <a:rPr lang="es-CL" sz="1500" dirty="0" err="1"/>
              <a:t>userId</a:t>
            </a:r>
            <a:endParaRPr lang="es-CL" sz="1500" dirty="0"/>
          </a:p>
          <a:p>
            <a:endParaRPr lang="es-CL" sz="1500" dirty="0"/>
          </a:p>
        </p:txBody>
      </p:sp>
      <p:sp>
        <p:nvSpPr>
          <p:cNvPr id="5" name="Marcador de contenido 3">
            <a:extLst>
              <a:ext uri="{FF2B5EF4-FFF2-40B4-BE49-F238E27FC236}">
                <a16:creationId xmlns:a16="http://schemas.microsoft.com/office/drawing/2014/main" id="{5D6C1945-AA0D-A642-1E3E-270DDBB6EB49}"/>
              </a:ext>
            </a:extLst>
          </p:cNvPr>
          <p:cNvSpPr txBox="1">
            <a:spLocks/>
          </p:cNvSpPr>
          <p:nvPr/>
        </p:nvSpPr>
        <p:spPr>
          <a:xfrm>
            <a:off x="9382215" y="2418879"/>
            <a:ext cx="5248185" cy="414073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0000" lnSpcReduction="20000"/>
          </a:bodyPr>
          <a:lstStyle>
            <a:lvl1pPr marL="274320" indent="-274320" algn="l" defTabSz="1097280" rtl="0" eaLnBrk="1" latinLnBrk="0" hangingPunct="1">
              <a:lnSpc>
                <a:spcPct val="12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82296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16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37160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92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92024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68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46888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301752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356616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411480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466344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PATCH /api/</a:t>
            </a:r>
            <a:r>
              <a:rPr lang="es-CL" dirty="0" err="1"/>
              <a:t>appointments</a:t>
            </a:r>
            <a:r>
              <a:rPr lang="es-CL" dirty="0"/>
              <a:t>/{id}/status</a:t>
            </a:r>
          </a:p>
          <a:p>
            <a:r>
              <a:rPr lang="es-CL" dirty="0"/>
              <a:t>Doctor (solo su cita) o </a:t>
            </a:r>
            <a:r>
              <a:rPr lang="es-CL" dirty="0" err="1"/>
              <a:t>Admin</a:t>
            </a:r>
            <a:r>
              <a:rPr lang="es-CL" dirty="0"/>
              <a:t>.</a:t>
            </a:r>
            <a:br>
              <a:rPr lang="es-CL" dirty="0"/>
            </a:br>
            <a:r>
              <a:rPr lang="es-CL" dirty="0"/>
              <a:t>(Partimos desde tu </a:t>
            </a:r>
            <a:r>
              <a:rPr lang="es-CL" dirty="0" err="1"/>
              <a:t>controller</a:t>
            </a:r>
            <a:r>
              <a:rPr lang="es-CL" dirty="0"/>
              <a:t> actual. )</a:t>
            </a:r>
          </a:p>
          <a:p>
            <a:r>
              <a:rPr lang="es-CL" dirty="0" err="1"/>
              <a:t>Patients</a:t>
            </a:r>
            <a:endParaRPr lang="es-CL" dirty="0"/>
          </a:p>
          <a:p>
            <a:r>
              <a:rPr lang="es-CL" dirty="0"/>
              <a:t>Todo el </a:t>
            </a:r>
            <a:r>
              <a:rPr lang="es-CL" dirty="0" err="1"/>
              <a:t>controller</a:t>
            </a:r>
            <a:r>
              <a:rPr lang="es-CL" dirty="0"/>
              <a:t>: </a:t>
            </a:r>
            <a:r>
              <a:rPr lang="es-CL" dirty="0" err="1"/>
              <a:t>Doctor,Admin</a:t>
            </a:r>
            <a:r>
              <a:rPr lang="es-CL" dirty="0"/>
              <a:t> (datos sensibles).</a:t>
            </a:r>
          </a:p>
          <a:p>
            <a:r>
              <a:rPr lang="es-CL" dirty="0"/>
              <a:t>(Opcional) GET /api/</a:t>
            </a:r>
            <a:r>
              <a:rPr lang="es-CL" dirty="0" err="1"/>
              <a:t>patients</a:t>
            </a:r>
            <a:r>
              <a:rPr lang="es-CL" dirty="0"/>
              <a:t>/me: </a:t>
            </a:r>
            <a:r>
              <a:rPr lang="es-CL" dirty="0" err="1"/>
              <a:t>Patient</a:t>
            </a:r>
            <a:r>
              <a:rPr lang="es-CL" dirty="0"/>
              <a:t> ve solo su ficha.</a:t>
            </a:r>
          </a:p>
          <a:p>
            <a:r>
              <a:rPr lang="es-CL" dirty="0" err="1"/>
              <a:t>Doctors</a:t>
            </a:r>
            <a:endParaRPr lang="es-CL" dirty="0"/>
          </a:p>
          <a:p>
            <a:r>
              <a:rPr lang="es-CL" dirty="0"/>
              <a:t>Listado/detalle: </a:t>
            </a:r>
            <a:r>
              <a:rPr lang="es-CL" dirty="0" err="1"/>
              <a:t>AllowAnonymous</a:t>
            </a:r>
            <a:r>
              <a:rPr lang="es-CL" dirty="0"/>
              <a:t> como ahora.</a:t>
            </a:r>
          </a:p>
          <a:p>
            <a:r>
              <a:rPr lang="es-CL" dirty="0"/>
              <a:t>(Opcional) GET /api/</a:t>
            </a:r>
            <a:r>
              <a:rPr lang="es-CL" dirty="0" err="1"/>
              <a:t>doctors</a:t>
            </a:r>
            <a:r>
              <a:rPr lang="es-CL" dirty="0"/>
              <a:t>/me: Doctor ve su perfil.</a:t>
            </a:r>
          </a:p>
        </p:txBody>
      </p:sp>
    </p:spTree>
    <p:extLst>
      <p:ext uri="{BB962C8B-B14F-4D97-AF65-F5344CB8AC3E}">
        <p14:creationId xmlns:p14="http://schemas.microsoft.com/office/powerpoint/2010/main" val="2642450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C45A9-3C1F-75B6-3440-0BA4368D2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A389BF-4EA5-F613-4727-8A5A02A84577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4C77779-4B55-5375-4808-3AED0EB69148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75835E4-D460-0237-D82D-B75819684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081" y="1103948"/>
            <a:ext cx="11346077" cy="689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63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9498-13B9-10A3-57B0-29D3E01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1A928-6668-6D0D-9DB4-D4A73795EBEB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Diagrama de Base de Datos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FB58816-F6C4-926D-2896-3426C29EB3E1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3071420-8B5A-BD9B-64DA-A1B090A54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61" y="0"/>
            <a:ext cx="4981934" cy="7403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98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6CE9-3A22-BF8A-4C17-8B63D52D9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6EAC2C-18BB-204D-FB03-7EE53973B1D9}"/>
              </a:ext>
            </a:extLst>
          </p:cNvPr>
          <p:cNvSpPr/>
          <p:nvPr/>
        </p:nvSpPr>
        <p:spPr>
          <a:xfrm>
            <a:off x="1207001" y="32670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Stack</a:t>
            </a: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Técnico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DF37546-4222-4C49-60B1-207E1AEEE2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1280" y="384048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.NET 8 Web API (C#),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Entity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 Core, SQL Server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Vite +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Tailwind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IA: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OpenAI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(modelo GPT‑4o o GPT‑5, a definir en configuración)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Autenticación: JWT con roles (Paciente, Médico, Administrador)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Observabilidad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logs estructurados y métricas básicas</a:t>
            </a:r>
          </a:p>
        </p:txBody>
      </p:sp>
    </p:spTree>
    <p:extLst>
      <p:ext uri="{BB962C8B-B14F-4D97-AF65-F5344CB8AC3E}">
        <p14:creationId xmlns:p14="http://schemas.microsoft.com/office/powerpoint/2010/main" val="348460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MediTriage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BD5C-45C9-F1FE-5B2B-29665E983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898BD-CD4C-C20E-DD22-C201D3AA7B0E}"/>
              </a:ext>
            </a:extLst>
          </p:cNvPr>
          <p:cNvSpPr/>
          <p:nvPr/>
        </p:nvSpPr>
        <p:spPr>
          <a:xfrm>
            <a:off x="2637986" y="3057993"/>
            <a:ext cx="8604918" cy="1850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s-419" sz="8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258819869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225</TotalTime>
  <Words>1226</Words>
  <Application>Microsoft Office PowerPoint</Application>
  <PresentationFormat>Personalizado</PresentationFormat>
  <Paragraphs>187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Source Sans 3</vt:lpstr>
      <vt:lpstr>Aptos Narrow</vt:lpstr>
      <vt:lpstr>Gill Sans MT</vt:lpstr>
      <vt:lpstr>Source Serif 4 Semi Bold</vt:lpstr>
      <vt:lpstr>Arial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6</cp:revision>
  <dcterms:created xsi:type="dcterms:W3CDTF">2025-09-01T01:21:58Z</dcterms:created>
  <dcterms:modified xsi:type="dcterms:W3CDTF">2025-09-11T22:14:31Z</dcterms:modified>
</cp:coreProperties>
</file>