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3" r:id="rId14"/>
    <p:sldId id="269" r:id="rId15"/>
    <p:sldId id="274" r:id="rId16"/>
  </p:sldIdLst>
  <p:sldSz cx="14630400" cy="8229600"/>
  <p:notesSz cx="8229600" cy="146304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Gill Sans MT" panose="020B0502020104020203" pitchFamily="34" charset="0"/>
      <p:regular r:id="rId22"/>
      <p:bold r:id="rId23"/>
      <p:italic r:id="rId24"/>
      <p:boldItalic r:id="rId25"/>
    </p:embeddedFont>
    <p:embeddedFont>
      <p:font typeface="Source Sans 3" panose="020B0604020202020204" charset="0"/>
      <p:regular r:id="rId26"/>
    </p:embeddedFont>
    <p:embeddedFont>
      <p:font typeface="Source Serif 4 Semi Bold" panose="020B0604020202020204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38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3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E7A7-B918-69BF-9879-FCA16BD9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38C74-7FE6-F75C-E4C8-FF69D3680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20593-E417-C270-198E-0234F3221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F4EB-CF2D-4769-6321-4B0E1943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54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23FC-9869-C4D8-C28D-74E9A56A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08E3F-C1C2-96FF-FBF9-193618DCC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DB80F-194C-74CA-580F-344D60FC2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CA20B-D460-B49D-B980-9236970C2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07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CF9F-B496-1049-8236-E1F216F5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DA388-15E8-4827-EE54-6D499F794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5183C-F598-EA00-085C-CC8812B4C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FE232-92A2-DAB2-7FEC-63C49F4E3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21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5C90-D3FD-4CEC-FFD0-A8CF4E9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54381-8F59-9FBD-8013-4409B8A6C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534A1-9AA0-D0B7-8541-6E268D25F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600FD-0FAD-A198-FACD-214CBE307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33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3B39-1B24-EA80-035C-F03DBB7D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8FB31-F90F-A214-8D93-CBFDE06C0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86B29-ECD3-A788-E401-352BDB02F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D256B-DA5E-15EA-579A-1FFD24CF2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89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504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478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3236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3209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6823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177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606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387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006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73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84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5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647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632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842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93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4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669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901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4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87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0"/>
            <a:ext cx="4663440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 – Plataforma de Citas Médicas con Triage IA</a:t>
            </a:r>
            <a:endParaRPr lang="es-419" sz="4400" noProof="0" dirty="0"/>
          </a:p>
        </p:txBody>
      </p:sp>
      <p:sp>
        <p:nvSpPr>
          <p:cNvPr id="5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Bienvenida a la presentación de MediTriage, un proyecto innovador en la gestión de citas médicas.</a:t>
            </a:r>
            <a:endParaRPr lang="es-419" sz="185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1114AA-578E-C3BD-AD7C-3C23BC62B4EA}"/>
              </a:ext>
            </a:extLst>
          </p:cNvPr>
          <p:cNvSpPr/>
          <p:nvPr/>
        </p:nvSpPr>
        <p:spPr>
          <a:xfrm>
            <a:off x="11405939" y="6099114"/>
            <a:ext cx="3224461" cy="124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Docente: Alex Zúñiga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Integrantes</a:t>
            </a: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: Matías cuevas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Raúl Benavides</a:t>
            </a:r>
            <a:endParaRPr lang="es-419" sz="1850" noProof="0" dirty="0">
              <a:solidFill>
                <a:srgbClr val="272525"/>
              </a:solidFill>
              <a:latin typeface="Source Sans 3" pitchFamily="34" charset="0"/>
            </a:endParaRPr>
          </a:p>
          <a:p>
            <a:pPr marL="0" indent="0" algn="ctr">
              <a:lnSpc>
                <a:spcPts val="3000"/>
              </a:lnSpc>
              <a:buNone/>
            </a:pPr>
            <a:endParaRPr lang="es-419" sz="18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4975"/>
            <a:ext cx="9756458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s-419" sz="395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El Desafío Actual en la Gestión Sanitaria</a:t>
            </a:r>
            <a:endParaRPr lang="es-419" sz="395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54054"/>
            <a:ext cx="5278279" cy="5278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5591" y="1927146"/>
            <a:ext cx="4088130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s-419" sz="315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Contexto y Problema</a:t>
            </a:r>
            <a:endParaRPr lang="es-419" sz="3150" noProof="0" dirty="0"/>
          </a:p>
        </p:txBody>
      </p:sp>
      <p:sp>
        <p:nvSpPr>
          <p:cNvPr id="5" name="Text 2"/>
          <p:cNvSpPr/>
          <p:nvPr/>
        </p:nvSpPr>
        <p:spPr>
          <a:xfrm>
            <a:off x="7585591" y="2649379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419" sz="16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Sobrecarga y mala orientación</a:t>
            </a:r>
            <a:r>
              <a:rPr lang="es-419" sz="16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agendas médicas: un problema generalizado que afecta a pacientes y profesionales.</a:t>
            </a:r>
            <a:endParaRPr lang="es-419" sz="1650" noProof="0" dirty="0"/>
          </a:p>
        </p:txBody>
      </p:sp>
      <p:sp>
        <p:nvSpPr>
          <p:cNvPr id="6" name="Text 3"/>
          <p:cNvSpPr/>
          <p:nvPr/>
        </p:nvSpPr>
        <p:spPr>
          <a:xfrm>
            <a:off x="7585591" y="3532346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16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Pacientes que reservan citas en especialidades incorrectas, retrasando diagnósticos.</a:t>
            </a:r>
            <a:endParaRPr lang="es-419" sz="1650" noProof="0" dirty="0"/>
          </a:p>
        </p:txBody>
      </p:sp>
      <p:sp>
        <p:nvSpPr>
          <p:cNvPr id="7" name="Text 4"/>
          <p:cNvSpPr/>
          <p:nvPr/>
        </p:nvSpPr>
        <p:spPr>
          <a:xfrm>
            <a:off x="7585591" y="4296847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16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Ineficiencia en la gestión de recursos médicos, generando esperas innecesarias.</a:t>
            </a:r>
            <a:endParaRPr lang="es-419" sz="16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36621"/>
            <a:ext cx="635936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Impacto y Oportunidad</a:t>
            </a:r>
            <a:endParaRPr lang="es-419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838926"/>
            <a:ext cx="51780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Relevancia del Proyecto</a:t>
            </a:r>
            <a:endParaRPr lang="es-419" sz="350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364152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asignación de citas médicas, dirigiendo a cada paciente al especialista adecuado.</a:t>
            </a:r>
            <a:endParaRPr lang="es-419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837724" y="449127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Mejora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experiencia del paciente, reduciendo tiempos de espera y frustraciones.</a:t>
            </a:r>
            <a:endParaRPr lang="es-419" sz="1850" noProof="0" dirty="0"/>
          </a:p>
        </p:txBody>
      </p:sp>
      <p:sp>
        <p:nvSpPr>
          <p:cNvPr id="6" name="Text 4"/>
          <p:cNvSpPr/>
          <p:nvPr/>
        </p:nvSpPr>
        <p:spPr>
          <a:xfrm>
            <a:off x="837724" y="5341025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Aporta valor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 campo de la informática aplicando IA en un entorno crítico como la salud, abriendo nuevas vías de eficiencia.</a:t>
            </a:r>
            <a:endParaRPr lang="es-419" sz="185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761" y="2868811"/>
            <a:ext cx="6185535" cy="3554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72133"/>
            <a:ext cx="96222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MediTriage: La Solución Inteligente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204323"/>
            <a:ext cx="4997053" cy="3266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641038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¿Qué es MediTriage?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0" y="244363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</a:t>
            </a: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web integral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diseñada para optimizar el agendamiento y la gestión de citas médicas mediante: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3425071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Cuestionario dinámico de síntomas para una evaluación inicial.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315200" y="4274820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Motor de reglas para detectar "banderas rojas" y casos de urgencia.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315200" y="512456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Módulo de IA para orientar el nivel de urgencia y la especialidad más adecuada.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315199" y="602527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de médicos para una gestión eficiente y visualización del triage previo.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7962"/>
            <a:ext cx="69450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Hoja de Ruta del Proyecto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170152"/>
            <a:ext cx="4952167" cy="4952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0026" y="1843858"/>
            <a:ext cx="484370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Objetivos del Proyecto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210026" y="264645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 General: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210026" y="324486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Desarrollar una plataforma web para la gestión de citas médicas con triage IA y motor de reglas integrado.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210026" y="422629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Objetivos Específicos: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210026" y="482470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Implementar autenticación y gestión de usuarios robusta.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210026" y="529143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Diseñar un modelo de datos escalable para agenda y citas.</a:t>
            </a:r>
            <a:endParaRPr lang="es-419" sz="1850" noProof="0" dirty="0"/>
          </a:p>
        </p:txBody>
      </p:sp>
      <p:sp>
        <p:nvSpPr>
          <p:cNvPr id="10" name="Text 7"/>
          <p:cNvSpPr/>
          <p:nvPr/>
        </p:nvSpPr>
        <p:spPr>
          <a:xfrm>
            <a:off x="7210026" y="575815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Integrar un servicio de IA para orientación precisa de urgencia y especialidad.</a:t>
            </a:r>
            <a:endParaRPr lang="es-419" sz="1850" noProof="0" dirty="0"/>
          </a:p>
        </p:txBody>
      </p:sp>
      <p:sp>
        <p:nvSpPr>
          <p:cNvPr id="11" name="Text 8"/>
          <p:cNvSpPr/>
          <p:nvPr/>
        </p:nvSpPr>
        <p:spPr>
          <a:xfrm>
            <a:off x="7202406" y="644288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Crear reportes básicos y un panel de médicos intuitivo.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32704"/>
            <a:ext cx="59031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Metodología y Equipo</a:t>
            </a:r>
            <a:endParaRPr lang="es-419" sz="4400" noProof="0" dirty="0"/>
          </a:p>
        </p:txBody>
      </p:sp>
      <p:sp>
        <p:nvSpPr>
          <p:cNvPr id="3" name="Shape 1"/>
          <p:cNvSpPr/>
          <p:nvPr/>
        </p:nvSpPr>
        <p:spPr>
          <a:xfrm>
            <a:off x="837724" y="3174444"/>
            <a:ext cx="6357818" cy="3422452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143964"/>
            <a:ext cx="635781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815471"/>
            <a:ext cx="718066" cy="71806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925" y="2995017"/>
            <a:ext cx="287179" cy="35897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07519" y="3772852"/>
            <a:ext cx="291119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Enfoque Ágil (Scrum)</a:t>
            </a:r>
            <a:endParaRPr lang="es-419" sz="2200" noProof="0" dirty="0"/>
          </a:p>
        </p:txBody>
      </p:sp>
      <p:sp>
        <p:nvSpPr>
          <p:cNvPr id="8" name="Text 3"/>
          <p:cNvSpPr/>
          <p:nvPr/>
        </p:nvSpPr>
        <p:spPr>
          <a:xfrm>
            <a:off x="1107519" y="4268391"/>
            <a:ext cx="581822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Trabajaremos con </a:t>
            </a:r>
            <a:r>
              <a:rPr lang="es-419" sz="1850" b="1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sprints</a:t>
            </a: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2 semanas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garantizando iteraciones rápidas y entregas continuas. Cada sprint incluirá planificación, diseño, desarrollo, pruebas y documentación.</a:t>
            </a:r>
            <a:endParaRPr lang="es-419" sz="1850" noProof="0" dirty="0"/>
          </a:p>
        </p:txBody>
      </p:sp>
      <p:sp>
        <p:nvSpPr>
          <p:cNvPr id="9" name="Shape 4"/>
          <p:cNvSpPr/>
          <p:nvPr/>
        </p:nvSpPr>
        <p:spPr>
          <a:xfrm>
            <a:off x="7434858" y="3174444"/>
            <a:ext cx="6357818" cy="3422452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58" y="3143964"/>
            <a:ext cx="6357818" cy="1219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675" y="2815471"/>
            <a:ext cx="718066" cy="71806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0059" y="2995017"/>
            <a:ext cx="287179" cy="35897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704653" y="37728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Roles del Equipo</a:t>
            </a:r>
            <a:endParaRPr lang="es-419" sz="2200" noProof="0" dirty="0"/>
          </a:p>
        </p:txBody>
      </p:sp>
      <p:sp>
        <p:nvSpPr>
          <p:cNvPr id="14" name="Text 6"/>
          <p:cNvSpPr/>
          <p:nvPr/>
        </p:nvSpPr>
        <p:spPr>
          <a:xfrm>
            <a:off x="7704653" y="4268391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Matías: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Líder técnico, encargado del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la documentación crucial del proyecto.</a:t>
            </a:r>
            <a:endParaRPr lang="es-419" sz="1850" noProof="0" dirty="0"/>
          </a:p>
        </p:txBody>
      </p:sp>
      <p:sp>
        <p:nvSpPr>
          <p:cNvPr id="15" name="Text 7"/>
          <p:cNvSpPr/>
          <p:nvPr/>
        </p:nvSpPr>
        <p:spPr>
          <a:xfrm>
            <a:off x="7704653" y="5178028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Raúl: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Responsable del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pruebas de calidad y el diseño de la interfaz de usuario para una experiencia óptima.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7409" y="405095"/>
            <a:ext cx="61510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Cronograma Detallado</a:t>
            </a:r>
            <a:endParaRPr lang="es-419" sz="4400" noProof="0" dirty="0"/>
          </a:p>
        </p:txBody>
      </p:sp>
      <p:sp>
        <p:nvSpPr>
          <p:cNvPr id="10" name="Shape 8"/>
          <p:cNvSpPr/>
          <p:nvPr/>
        </p:nvSpPr>
        <p:spPr>
          <a:xfrm>
            <a:off x="845344" y="3677960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0DBEA00C-B57F-5373-0E33-43301C412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104067"/>
              </p:ext>
            </p:extLst>
          </p:nvPr>
        </p:nvGraphicFramePr>
        <p:xfrm>
          <a:off x="1798819" y="1199212"/>
          <a:ext cx="10538085" cy="5831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65522">
                  <a:extLst>
                    <a:ext uri="{9D8B030D-6E8A-4147-A177-3AD203B41FA5}">
                      <a16:colId xmlns:a16="http://schemas.microsoft.com/office/drawing/2014/main" val="750545529"/>
                    </a:ext>
                  </a:extLst>
                </a:gridCol>
                <a:gridCol w="2168157">
                  <a:extLst>
                    <a:ext uri="{9D8B030D-6E8A-4147-A177-3AD203B41FA5}">
                      <a16:colId xmlns:a16="http://schemas.microsoft.com/office/drawing/2014/main" val="3219625123"/>
                    </a:ext>
                  </a:extLst>
                </a:gridCol>
                <a:gridCol w="3104406">
                  <a:extLst>
                    <a:ext uri="{9D8B030D-6E8A-4147-A177-3AD203B41FA5}">
                      <a16:colId xmlns:a16="http://schemas.microsoft.com/office/drawing/2014/main" val="3213484307"/>
                    </a:ext>
                  </a:extLst>
                </a:gridCol>
              </a:tblGrid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Actividad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Responsable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asociadas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352861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Levantamiento de requerimientos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4444475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Análisis de factibilidad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7710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base de datos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3, 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001687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de arquitectura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4, 5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612448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backend (API REST .NET)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5,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011059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frontend (UI prototipo)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716460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Integración frontend-backend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8, 9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25619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unitarias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9, 10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733583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de integración (E2E)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10, 11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061972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Ajustes y correcciones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11, 12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079412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Pruebas finales + despliegue simulado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13, 14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465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Preparación presentación final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15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5243974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Entrega final + exposición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16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612201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buffer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17, 18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47149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3061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Avance por </a:t>
            </a:r>
            <a:r>
              <a:rPr lang="es-419" sz="4400" noProof="0" dirty="0" err="1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Sprints</a:t>
            </a:r>
            <a:endParaRPr lang="es-419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31338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Nuestro plan de trabajo se estructura en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sprints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quincenales, asegurando un desarrollo modular y eficiente.</a:t>
            </a:r>
            <a:endParaRPr lang="es-419" sz="1850" noProof="0" dirty="0"/>
          </a:p>
        </p:txBody>
      </p:sp>
      <p:sp>
        <p:nvSpPr>
          <p:cNvPr id="4" name="Shape 2"/>
          <p:cNvSpPr/>
          <p:nvPr/>
        </p:nvSpPr>
        <p:spPr>
          <a:xfrm>
            <a:off x="837724" y="2965609"/>
            <a:ext cx="4158734" cy="2138482"/>
          </a:xfrm>
          <a:prstGeom prst="roundRect">
            <a:avLst>
              <a:gd name="adj" fmla="val 2686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Text 3"/>
          <p:cNvSpPr/>
          <p:nvPr/>
        </p:nvSpPr>
        <p:spPr>
          <a:xfrm>
            <a:off x="1084659" y="3212544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1 (Semanas 1-2)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1084659" y="3708083"/>
            <a:ext cx="366486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Planificación inicial, levantamiento de requerimientos y prototipo conceptual.</a:t>
            </a:r>
            <a:endParaRPr lang="es-419" sz="1850" noProof="0" dirty="0"/>
          </a:p>
        </p:txBody>
      </p:sp>
      <p:sp>
        <p:nvSpPr>
          <p:cNvPr id="7" name="Shape 5"/>
          <p:cNvSpPr/>
          <p:nvPr/>
        </p:nvSpPr>
        <p:spPr>
          <a:xfrm>
            <a:off x="5235773" y="2965609"/>
            <a:ext cx="4158734" cy="2138482"/>
          </a:xfrm>
          <a:prstGeom prst="roundRect">
            <a:avLst>
              <a:gd name="adj" fmla="val 2686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482709" y="3212544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2 (Semanas 3-4)</a:t>
            </a:r>
            <a:endParaRPr lang="es-419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5482709" y="3708083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la autenticación de usuarios y módulos de gestión.</a:t>
            </a:r>
            <a:endParaRPr lang="es-419" sz="1850" noProof="0" dirty="0"/>
          </a:p>
        </p:txBody>
      </p:sp>
      <p:sp>
        <p:nvSpPr>
          <p:cNvPr id="10" name="Shape 8"/>
          <p:cNvSpPr/>
          <p:nvPr/>
        </p:nvSpPr>
        <p:spPr>
          <a:xfrm>
            <a:off x="9633823" y="2965609"/>
            <a:ext cx="4158853" cy="2138482"/>
          </a:xfrm>
          <a:prstGeom prst="roundRect">
            <a:avLst>
              <a:gd name="adj" fmla="val 2686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Text 9"/>
          <p:cNvSpPr/>
          <p:nvPr/>
        </p:nvSpPr>
        <p:spPr>
          <a:xfrm>
            <a:off x="9880759" y="3212544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3 (Semanas 5-6)</a:t>
            </a:r>
            <a:endParaRPr lang="es-419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9880759" y="3708083"/>
            <a:ext cx="366498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Desarrollo del cuestionario de síntomas y el motor de reglas para el triage.</a:t>
            </a:r>
            <a:endParaRPr lang="es-419" sz="1850" noProof="0" dirty="0"/>
          </a:p>
        </p:txBody>
      </p:sp>
      <p:sp>
        <p:nvSpPr>
          <p:cNvPr id="13" name="Shape 11"/>
          <p:cNvSpPr/>
          <p:nvPr/>
        </p:nvSpPr>
        <p:spPr>
          <a:xfrm>
            <a:off x="837724" y="5343406"/>
            <a:ext cx="6357818" cy="1755458"/>
          </a:xfrm>
          <a:prstGeom prst="roundRect">
            <a:avLst>
              <a:gd name="adj" fmla="val 32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1084659" y="5590342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4 (Semanas 7-8)</a:t>
            </a:r>
            <a:endParaRPr lang="es-419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1084659" y="6085880"/>
            <a:ext cx="58639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Integración del módulo de IA y diseño del panel médico para una gestión eficaz.</a:t>
            </a:r>
            <a:endParaRPr lang="es-419" sz="1850" noProof="0" dirty="0"/>
          </a:p>
        </p:txBody>
      </p:sp>
      <p:sp>
        <p:nvSpPr>
          <p:cNvPr id="16" name="Shape 14"/>
          <p:cNvSpPr/>
          <p:nvPr/>
        </p:nvSpPr>
        <p:spPr>
          <a:xfrm>
            <a:off x="7434858" y="5343406"/>
            <a:ext cx="6357818" cy="1755458"/>
          </a:xfrm>
          <a:prstGeom prst="roundRect">
            <a:avLst>
              <a:gd name="adj" fmla="val 32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Text 15"/>
          <p:cNvSpPr/>
          <p:nvPr/>
        </p:nvSpPr>
        <p:spPr>
          <a:xfrm>
            <a:off x="7681793" y="5590342"/>
            <a:ext cx="31690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5 (Semanas 9-10)</a:t>
            </a:r>
            <a:endParaRPr lang="es-419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7681793" y="6085880"/>
            <a:ext cx="58639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Fase de pruebas exhaustivas, ajustes finales, documentación y la demo de MediTriage.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2390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Tecnologías que Impulsan MediTriage</a:t>
            </a:r>
            <a:endParaRPr lang="es-419" sz="4400" noProof="0" dirty="0"/>
          </a:p>
        </p:txBody>
      </p:sp>
      <p:sp>
        <p:nvSpPr>
          <p:cNvPr id="4" name="Text 1"/>
          <p:cNvSpPr/>
          <p:nvPr/>
        </p:nvSpPr>
        <p:spPr>
          <a:xfrm>
            <a:off x="5866924" y="2107883"/>
            <a:ext cx="8463673" cy="513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.NET 8 Web API (C#),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Framework Core, SQL Server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Vite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Tailwind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CSS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IA: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OpenAI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API (modelo GPT‑4o o GPT‑5, a definir en configuración)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Autenticación: JWT con roles (Paciente, Médico, Administrador)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Observabilidad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logs estructurados y métricas básicas</a:t>
            </a:r>
            <a:r>
              <a:rPr lang="es-419" sz="2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s-419" sz="2400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9263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Expansión Futura de MediTriage</a:t>
            </a:r>
            <a:endParaRPr lang="es-419" sz="35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74" y="1487568"/>
            <a:ext cx="957501" cy="11489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39127" y="1679020"/>
            <a:ext cx="4789773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Integración de Derivaciones</a:t>
            </a:r>
            <a:endParaRPr lang="es-419" sz="2800" noProof="0" dirty="0"/>
          </a:p>
        </p:txBody>
      </p:sp>
      <p:sp>
        <p:nvSpPr>
          <p:cNvPr id="8" name="Text 4"/>
          <p:cNvSpPr/>
          <p:nvPr/>
        </p:nvSpPr>
        <p:spPr>
          <a:xfrm>
            <a:off x="2539127" y="2075498"/>
            <a:ext cx="11791690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Conexión con sistemas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FONASA e ISAPRE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simplificar las derivaciones y coordinaciones.</a:t>
            </a:r>
            <a:endParaRPr lang="es-419" sz="240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174" y="2636521"/>
            <a:ext cx="957501" cy="11489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39127" y="2827973"/>
            <a:ext cx="3395160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Agenda Compartida</a:t>
            </a:r>
            <a:endParaRPr lang="es-419" sz="2800" noProof="0" dirty="0"/>
          </a:p>
        </p:txBody>
      </p:sp>
      <p:sp>
        <p:nvSpPr>
          <p:cNvPr id="11" name="Text 6"/>
          <p:cNvSpPr/>
          <p:nvPr/>
        </p:nvSpPr>
        <p:spPr>
          <a:xfrm>
            <a:off x="2539127" y="3224451"/>
            <a:ext cx="11791690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Funcionalidad que permitirá a médicos y centros de salud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compartir sus agendas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forma sincronizada.</a:t>
            </a:r>
            <a:endParaRPr lang="es-419" sz="2400" noProof="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174" y="3785474"/>
            <a:ext cx="957501" cy="11489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39127" y="3976926"/>
            <a:ext cx="2306722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Telemedicina</a:t>
            </a:r>
            <a:endParaRPr lang="es-419" sz="2800" noProof="0" dirty="0"/>
          </a:p>
        </p:txBody>
      </p:sp>
      <p:sp>
        <p:nvSpPr>
          <p:cNvPr id="14" name="Text 8"/>
          <p:cNvSpPr/>
          <p:nvPr/>
        </p:nvSpPr>
        <p:spPr>
          <a:xfrm>
            <a:off x="2539127" y="4373405"/>
            <a:ext cx="11123238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Incorporación de un módulo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consultas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ofrecer atención remota y accesible.</a:t>
            </a:r>
            <a:endParaRPr lang="es-419" sz="24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174" y="4934427"/>
            <a:ext cx="957501" cy="11489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39127" y="5125880"/>
            <a:ext cx="3880871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Análisis de Tendencias</a:t>
            </a:r>
            <a:endParaRPr lang="es-419" sz="2800" noProof="0" dirty="0"/>
          </a:p>
        </p:txBody>
      </p:sp>
      <p:sp>
        <p:nvSpPr>
          <p:cNvPr id="17" name="Text 10"/>
          <p:cNvSpPr/>
          <p:nvPr/>
        </p:nvSpPr>
        <p:spPr>
          <a:xfrm>
            <a:off x="2539127" y="5522358"/>
            <a:ext cx="10929223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herramientas para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análisis estadístico de síntomas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tendencias epidemiológicas.</a:t>
            </a:r>
            <a:endParaRPr lang="es-419" sz="2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641D-FD28-2D5E-8E9C-C5812F15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30754E-D2D9-D3A8-AA93-3CD490AF549A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92BF13B-1E8D-0B1A-8482-0103EA05672E}"/>
              </a:ext>
            </a:extLst>
          </p:cNvPr>
          <p:cNvSpPr/>
          <p:nvPr/>
        </p:nvSpPr>
        <p:spPr>
          <a:xfrm>
            <a:off x="773495" y="1332548"/>
            <a:ext cx="12287250" cy="41019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MVP funcional(MediTriage).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Informe de avance (acta, requerimientos, prototipo inicial).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🧑‍🤝‍🧑 Documentación técnica y de usuario.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🧪 Presentación final y demo.</a:t>
            </a:r>
          </a:p>
        </p:txBody>
      </p:sp>
    </p:spTree>
    <p:extLst>
      <p:ext uri="{BB962C8B-B14F-4D97-AF65-F5344CB8AC3E}">
        <p14:creationId xmlns:p14="http://schemas.microsoft.com/office/powerpoint/2010/main" val="79481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63FC-338F-8BA7-086C-3F0AA6BF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0FC1BE-E458-B41F-5631-E73A7F515600}"/>
              </a:ext>
            </a:extLst>
          </p:cNvPr>
          <p:cNvSpPr/>
          <p:nvPr/>
        </p:nvSpPr>
        <p:spPr>
          <a:xfrm>
            <a:off x="213185" y="1628800"/>
            <a:ext cx="2885314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7005A27-9227-5C76-26CD-4016CD49BA64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27621E45-A967-3D9C-4F7C-49CBADDCC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916" y="372593"/>
            <a:ext cx="7607369" cy="785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6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F858-8FB1-82CF-7120-C6AC96B6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1DE157-D2C1-6BE3-CA10-4561C9D8FC47}"/>
              </a:ext>
            </a:extLst>
          </p:cNvPr>
          <p:cNvSpPr/>
          <p:nvPr/>
        </p:nvSpPr>
        <p:spPr>
          <a:xfrm>
            <a:off x="1382417" y="320289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0BF5C02-8F93-5EB5-E038-3E7AED091402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DCE60E7-9F7E-9774-14BA-B10CC6905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47" y="1026826"/>
            <a:ext cx="14165705" cy="531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1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05A1-467B-E147-803A-3F1D75F3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335EEC-D967-5FCC-CE17-A17656B9F5A4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Conclusión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F9EC8B4-251E-EF19-7625-0ED1713E6B6E}"/>
              </a:ext>
            </a:extLst>
          </p:cNvPr>
          <p:cNvSpPr/>
          <p:nvPr/>
        </p:nvSpPr>
        <p:spPr>
          <a:xfrm>
            <a:off x="773495" y="2261019"/>
            <a:ext cx="12287250" cy="43797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✅ MediTriage responde a un problema real en salud, optimizando tiempos y mejorando la experiencia del paciente.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🤖 Integra IA y reglas de seguridad para decisiones innovadoras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📊 Evidencia preliminar confirma viabilidad técnica y utilidad percibida.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🎓 Aporta valor académico y profesional en IA aplicada, desarrollo ágil y soluciones críticas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🌐 Proyección: telemedicina, integraciones nacionales y análisis de tendencias epidemiológicas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279581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BD5C-45C9-F1FE-5B2B-29665E98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B898BD-CD4C-C20E-DD22-C201D3AA7B0E}"/>
              </a:ext>
            </a:extLst>
          </p:cNvPr>
          <p:cNvSpPr/>
          <p:nvPr/>
        </p:nvSpPr>
        <p:spPr>
          <a:xfrm>
            <a:off x="2637986" y="3057993"/>
            <a:ext cx="8604918" cy="185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s-419" sz="80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258819869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135</TotalTime>
  <Words>880</Words>
  <Application>Microsoft Office PowerPoint</Application>
  <PresentationFormat>Personalizado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Source Sans 3</vt:lpstr>
      <vt:lpstr>Arial</vt:lpstr>
      <vt:lpstr>Source Serif 4 Semi Bold</vt:lpstr>
      <vt:lpstr>Aptos Narrow</vt:lpstr>
      <vt:lpstr>Gill Sans MT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Raul Enrique Benavides Villar</cp:lastModifiedBy>
  <cp:revision>3</cp:revision>
  <dcterms:created xsi:type="dcterms:W3CDTF">2025-09-01T01:21:58Z</dcterms:created>
  <dcterms:modified xsi:type="dcterms:W3CDTF">2025-09-03T01:35:26Z</dcterms:modified>
</cp:coreProperties>
</file>